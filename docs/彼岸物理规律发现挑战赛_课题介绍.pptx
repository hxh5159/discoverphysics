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69" r:id="rId2"/>
    <p:sldId id="302" r:id="rId3"/>
    <p:sldId id="265" r:id="rId4"/>
    <p:sldId id="297" r:id="rId5"/>
    <p:sldId id="298" r:id="rId6"/>
    <p:sldId id="299" r:id="rId7"/>
    <p:sldId id="300" r:id="rId8"/>
    <p:sldId id="30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BA25868-3C5B-4F52-AF1B-C605FEDF44E7}">
          <p14:sldIdLst>
            <p14:sldId id="269"/>
            <p14:sldId id="302"/>
            <p14:sldId id="265"/>
            <p14:sldId id="297"/>
            <p14:sldId id="298"/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08" y="16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slideMaster" Target="../slideMasters/slideMaster1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image" Target="../media/image4.jpe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3193"/>
            <a:ext cx="9144000" cy="2187384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668"/>
            <a:ext cx="9144000" cy="165605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360608"/>
            <a:ext cx="10515600" cy="768624"/>
          </a:xfrm>
        </p:spPr>
        <p:txBody>
          <a:bodyPr anchor="ctr" anchorCtr="0">
            <a:normAutofit/>
          </a:bodyPr>
          <a:lstStyle>
            <a:lvl1pPr>
              <a:defRPr sz="3735" b="1" baseline="0">
                <a:solidFill>
                  <a:schemeClr val="accent5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944"/>
            <a:ext cx="10515600" cy="4352099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218191" y="324239"/>
            <a:ext cx="2582296" cy="660149"/>
            <a:chOff x="337608" y="72446"/>
            <a:chExt cx="1936722" cy="49511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3547" y="164862"/>
              <a:ext cx="1610783" cy="402696"/>
            </a:xfrm>
            <a:prstGeom prst="rect">
              <a:avLst/>
            </a:prstGeom>
          </p:spPr>
        </p:pic>
        <p:pic>
          <p:nvPicPr>
            <p:cNvPr id="9" name="图片 8" descr="图表, 漏斗图&#10;&#10;描述已自动生成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608" y="72446"/>
              <a:ext cx="325939" cy="495112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209"/>
            <a:ext cx="10307927" cy="4094063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610835"/>
            <a:ext cx="10307927" cy="64766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26475"/>
            <a:ext cx="10515600" cy="785795"/>
          </a:xfrm>
        </p:spPr>
        <p:txBody>
          <a:bodyPr>
            <a:normAutofit/>
          </a:bodyPr>
          <a:lstStyle>
            <a:lvl1pPr>
              <a:defRPr sz="3735" b="1" i="0">
                <a:solidFill>
                  <a:schemeClr val="accent5">
                    <a:lumMod val="7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944"/>
            <a:ext cx="5181600" cy="435209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944"/>
            <a:ext cx="5181600" cy="435209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9218191" y="324239"/>
            <a:ext cx="2582296" cy="660149"/>
            <a:chOff x="337608" y="72446"/>
            <a:chExt cx="1936722" cy="495112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3547" y="164862"/>
              <a:ext cx="1610783" cy="402696"/>
            </a:xfrm>
            <a:prstGeom prst="rect">
              <a:avLst/>
            </a:prstGeom>
          </p:spPr>
        </p:pic>
        <p:pic>
          <p:nvPicPr>
            <p:cNvPr id="10" name="图片 9" descr="图表, 漏斗图&#10;&#10;描述已自动生成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608" y="72446"/>
              <a:ext cx="325939" cy="495112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89"/>
            <a:ext cx="10515600" cy="132579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5267"/>
            <a:ext cx="5157787" cy="824056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6067"/>
            <a:ext cx="5157787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5267"/>
            <a:ext cx="5183188" cy="824056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6067"/>
            <a:ext cx="5183188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703"/>
            <a:ext cx="10515600" cy="1325795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199284" y="2278380"/>
            <a:ext cx="4121784" cy="1438459"/>
            <a:chOff x="667657" y="1497651"/>
            <a:chExt cx="4122058" cy="1438728"/>
          </a:xfrm>
        </p:grpSpPr>
        <p:sp>
          <p:nvSpPr>
            <p:cNvPr id="17" name="矩形 16"/>
            <p:cNvSpPr/>
            <p:nvPr/>
          </p:nvSpPr>
          <p:spPr>
            <a:xfrm>
              <a:off x="667657" y="1497651"/>
              <a:ext cx="4122058" cy="143872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387598" y="1755350"/>
              <a:ext cx="2235199" cy="922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+mj-ea"/>
                  <a:ea typeface="+mj-ea"/>
                </a:rPr>
                <a:t>目  录</a:t>
              </a:r>
            </a:p>
          </p:txBody>
        </p:sp>
      </p:grpSp>
      <p:cxnSp>
        <p:nvCxnSpPr>
          <p:cNvPr id="5" name="直接连接符 4"/>
          <p:cNvCxnSpPr/>
          <p:nvPr userDrawn="1"/>
        </p:nvCxnSpPr>
        <p:spPr>
          <a:xfrm>
            <a:off x="199284" y="3716609"/>
            <a:ext cx="4120424" cy="0"/>
          </a:xfrm>
          <a:prstGeom prst="line">
            <a:avLst/>
          </a:prstGeom>
          <a:ln w="44450">
            <a:gradFill>
              <a:gsLst>
                <a:gs pos="0">
                  <a:srgbClr val="3AB5BE"/>
                </a:gs>
                <a:gs pos="100000">
                  <a:srgbClr val="9CBEDE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 descr="图表, 漏斗图&#10;&#10;描述已自动生成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44" y="2377101"/>
            <a:ext cx="837353" cy="1271965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5733047" y="57533"/>
            <a:ext cx="6458953" cy="9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3735" b="1" dirty="0">
              <a:solidFill>
                <a:schemeClr val="accent5">
                  <a:lumMod val="7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4530255" y="57533"/>
            <a:ext cx="960000" cy="960000"/>
            <a:chOff x="5412150" y="1180600"/>
            <a:chExt cx="720000" cy="720000"/>
          </a:xfrm>
          <a:solidFill>
            <a:schemeClr val="bg1">
              <a:lumMod val="95000"/>
            </a:schemeClr>
          </a:solidFill>
        </p:grpSpPr>
        <p:sp>
          <p:nvSpPr>
            <p:cNvPr id="10" name="矩形 9"/>
            <p:cNvSpPr/>
            <p:nvPr>
              <p:custDataLst>
                <p:tags r:id="rId19"/>
              </p:custDataLst>
            </p:nvPr>
          </p:nvSpPr>
          <p:spPr>
            <a:xfrm>
              <a:off x="5412150" y="1180600"/>
              <a:ext cx="720000" cy="720000"/>
            </a:xfrm>
            <a:prstGeom prst="rect">
              <a:avLst/>
            </a:prstGeom>
            <a:solidFill>
              <a:srgbClr val="4375B7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265" b="1" dirty="0"/>
                <a:t>1</a:t>
              </a:r>
              <a:endParaRPr lang="zh-CN" altLang="en-US" sz="4265" b="1" dirty="0"/>
            </a:p>
          </p:txBody>
        </p:sp>
        <p:sp>
          <p:nvSpPr>
            <p:cNvPr id="11" name="矩形 10"/>
            <p:cNvSpPr/>
            <p:nvPr>
              <p:custDataLst>
                <p:tags r:id="rId20"/>
              </p:custDataLst>
            </p:nvPr>
          </p:nvSpPr>
          <p:spPr>
            <a:xfrm>
              <a:off x="5412150" y="1810600"/>
              <a:ext cx="720000" cy="9000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13" name="组合 12"/>
          <p:cNvGrpSpPr/>
          <p:nvPr userDrawn="1">
            <p:custDataLst>
              <p:tags r:id="rId3"/>
            </p:custDataLst>
          </p:nvPr>
        </p:nvGrpSpPr>
        <p:grpSpPr>
          <a:xfrm>
            <a:off x="4530255" y="1497533"/>
            <a:ext cx="960000" cy="960000"/>
            <a:chOff x="5412150" y="2260600"/>
            <a:chExt cx="720000" cy="720000"/>
          </a:xfrm>
          <a:solidFill>
            <a:schemeClr val="bg1">
              <a:lumMod val="95000"/>
            </a:schemeClr>
          </a:solidFill>
        </p:grpSpPr>
        <p:sp>
          <p:nvSpPr>
            <p:cNvPr id="14" name="矩形 13"/>
            <p:cNvSpPr/>
            <p:nvPr>
              <p:custDataLst>
                <p:tags r:id="rId17"/>
              </p:custDataLst>
            </p:nvPr>
          </p:nvSpPr>
          <p:spPr>
            <a:xfrm>
              <a:off x="5412150" y="2260600"/>
              <a:ext cx="720000" cy="720000"/>
            </a:xfrm>
            <a:prstGeom prst="rect">
              <a:avLst/>
            </a:prstGeom>
            <a:solidFill>
              <a:srgbClr val="4375B7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265" b="1" dirty="0"/>
                <a:t>2</a:t>
              </a:r>
              <a:endParaRPr lang="zh-CN" altLang="en-US" sz="4265" b="1" dirty="0"/>
            </a:p>
          </p:txBody>
        </p:sp>
        <p:sp>
          <p:nvSpPr>
            <p:cNvPr id="16" name="矩形 15"/>
            <p:cNvSpPr/>
            <p:nvPr>
              <p:custDataLst>
                <p:tags r:id="rId18"/>
              </p:custDataLst>
            </p:nvPr>
          </p:nvSpPr>
          <p:spPr>
            <a:xfrm>
              <a:off x="5412150" y="2890600"/>
              <a:ext cx="720000" cy="9000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18" name="组合 17"/>
          <p:cNvGrpSpPr/>
          <p:nvPr userDrawn="1">
            <p:custDataLst>
              <p:tags r:id="rId4"/>
            </p:custDataLst>
          </p:nvPr>
        </p:nvGrpSpPr>
        <p:grpSpPr>
          <a:xfrm>
            <a:off x="4530255" y="2937533"/>
            <a:ext cx="960000" cy="960000"/>
            <a:chOff x="5412150" y="3340600"/>
            <a:chExt cx="720000" cy="720000"/>
          </a:xfrm>
          <a:solidFill>
            <a:schemeClr val="bg1">
              <a:lumMod val="95000"/>
            </a:schemeClr>
          </a:solidFill>
        </p:grpSpPr>
        <p:sp>
          <p:nvSpPr>
            <p:cNvPr id="20" name="矩形 19"/>
            <p:cNvSpPr/>
            <p:nvPr>
              <p:custDataLst>
                <p:tags r:id="rId15"/>
              </p:custDataLst>
            </p:nvPr>
          </p:nvSpPr>
          <p:spPr>
            <a:xfrm>
              <a:off x="5412150" y="3340600"/>
              <a:ext cx="720000" cy="720000"/>
            </a:xfrm>
            <a:prstGeom prst="rect">
              <a:avLst/>
            </a:prstGeom>
            <a:solidFill>
              <a:srgbClr val="4375B7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265" b="1" dirty="0"/>
                <a:t>3</a:t>
              </a:r>
              <a:endParaRPr lang="zh-CN" altLang="en-US" sz="4265" b="1" dirty="0"/>
            </a:p>
          </p:txBody>
        </p:sp>
        <p:sp>
          <p:nvSpPr>
            <p:cNvPr id="21" name="矩形 20"/>
            <p:cNvSpPr/>
            <p:nvPr>
              <p:custDataLst>
                <p:tags r:id="rId16"/>
              </p:custDataLst>
            </p:nvPr>
          </p:nvSpPr>
          <p:spPr>
            <a:xfrm>
              <a:off x="5412150" y="3970600"/>
              <a:ext cx="720000" cy="9000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22" name="矩形 21"/>
          <p:cNvSpPr/>
          <p:nvPr userDrawn="1">
            <p:custDataLst>
              <p:tags r:id="rId5"/>
            </p:custDataLst>
          </p:nvPr>
        </p:nvSpPr>
        <p:spPr>
          <a:xfrm>
            <a:off x="5733047" y="2937533"/>
            <a:ext cx="6458953" cy="9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735" b="1" dirty="0">
              <a:solidFill>
                <a:schemeClr val="accent5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 userDrawn="1">
            <p:custDataLst>
              <p:tags r:id="rId6"/>
            </p:custDataLst>
          </p:nvPr>
        </p:nvSpPr>
        <p:spPr>
          <a:xfrm>
            <a:off x="5733047" y="1497533"/>
            <a:ext cx="6458953" cy="9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3735" b="1" dirty="0">
              <a:solidFill>
                <a:schemeClr val="accent5">
                  <a:lumMod val="7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4FDFE33-E95E-18C3-54AC-B41977C32E75}"/>
              </a:ext>
            </a:extLst>
          </p:cNvPr>
          <p:cNvGrpSpPr/>
          <p:nvPr userDrawn="1">
            <p:custDataLst>
              <p:tags r:id="rId7"/>
            </p:custDataLst>
          </p:nvPr>
        </p:nvGrpSpPr>
        <p:grpSpPr>
          <a:xfrm>
            <a:off x="4530255" y="4377533"/>
            <a:ext cx="960000" cy="960000"/>
            <a:chOff x="5412150" y="3340600"/>
            <a:chExt cx="720000" cy="720000"/>
          </a:xfrm>
          <a:solidFill>
            <a:schemeClr val="bg1">
              <a:lumMod val="95000"/>
            </a:schemeClr>
          </a:solidFill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E3B66EF-A411-9218-6E2E-843AE06F86B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5412150" y="3340600"/>
              <a:ext cx="720000" cy="720000"/>
            </a:xfrm>
            <a:prstGeom prst="rect">
              <a:avLst/>
            </a:prstGeom>
            <a:solidFill>
              <a:srgbClr val="4375B7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265" b="1" dirty="0"/>
                <a:t>4</a:t>
              </a:r>
              <a:endParaRPr lang="zh-CN" altLang="en-US" sz="4265" b="1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A9CF49E-97CC-E3AE-702C-154823E5351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5412150" y="3970600"/>
              <a:ext cx="720000" cy="9000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FC4B40E5-919C-E511-AA7B-9913A450A5C9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5733047" y="4377533"/>
            <a:ext cx="6458953" cy="9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735" b="1" dirty="0">
              <a:solidFill>
                <a:schemeClr val="accent5">
                  <a:lumMod val="7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7BEBF12-876D-BAA1-E8DF-11B6CCC100AC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>
          <a:xfrm>
            <a:off x="4530255" y="5817533"/>
            <a:ext cx="960000" cy="960000"/>
            <a:chOff x="5412150" y="3340600"/>
            <a:chExt cx="720000" cy="720000"/>
          </a:xfrm>
          <a:solidFill>
            <a:schemeClr val="bg1">
              <a:lumMod val="95000"/>
            </a:schemeClr>
          </a:solidFill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7BE71A5-FEE0-526F-A15A-2B85EDD60A1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412150" y="3340600"/>
              <a:ext cx="720000" cy="720000"/>
            </a:xfrm>
            <a:prstGeom prst="rect">
              <a:avLst/>
            </a:prstGeom>
            <a:solidFill>
              <a:srgbClr val="4375B7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265" b="1" dirty="0"/>
                <a:t>5</a:t>
              </a:r>
              <a:endParaRPr lang="zh-CN" altLang="en-US" sz="4265" b="1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558A5FB-03D0-DD17-B825-48C5E2100E7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5412150" y="3970600"/>
              <a:ext cx="720000" cy="9000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55327F1E-082C-C962-548F-9E62F8113465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5733047" y="5817533"/>
            <a:ext cx="6458953" cy="9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735" b="1" dirty="0">
              <a:solidFill>
                <a:schemeClr val="accent5">
                  <a:lumMod val="75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alphaModFix amt="8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33074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23"/>
            <a:ext cx="4165200" cy="160048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488"/>
            <a:ext cx="5817375" cy="50953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760"/>
            <a:ext cx="4165200" cy="381225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2026/10/27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89"/>
            <a:ext cx="1529316" cy="5812855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89"/>
            <a:ext cx="8879959" cy="5812855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640"/>
            <a:ext cx="10515600" cy="555994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89"/>
            <a:ext cx="10515600" cy="1325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j-cs"/>
              </a:rPr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944"/>
            <a:ext cx="10515600" cy="4352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7461"/>
            <a:ext cx="2743200" cy="36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7461"/>
            <a:ext cx="4114800" cy="36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7461"/>
            <a:ext cx="2743200" cy="36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4" Type="http://schemas.microsoft.com/office/2007/relationships/hdphoto" Target="../media/hdphoto2.wdp"/><Relationship Id="rId20" Type="http://schemas.openxmlformats.org/officeDocument/2006/relationships/image" Target="../media/shore_m74.png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9">
            <a:extLst>
              <a:ext uri="{FF2B5EF4-FFF2-40B4-BE49-F238E27FC236}">
                <a16:creationId xmlns:a16="http://schemas.microsoft.com/office/drawing/2014/main" id="{6BE82D01-4121-39FF-4B9A-657B26E819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29" b="8415"/>
          <a:stretch/>
        </p:blipFill>
        <p:spPr>
          <a:xfrm>
            <a:off x="2" y="1"/>
            <a:ext cx="12191999" cy="3917004"/>
          </a:xfrm>
          <a:prstGeom prst="rect">
            <a:avLst/>
          </a:prstGeom>
          <a:effectLst/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EF6168C-9EE0-67B2-B6CF-97BAA9AD93EB}"/>
              </a:ext>
            </a:extLst>
          </p:cNvPr>
          <p:cNvCxnSpPr>
            <a:cxnSpLocks/>
          </p:cNvCxnSpPr>
          <p:nvPr/>
        </p:nvCxnSpPr>
        <p:spPr>
          <a:xfrm>
            <a:off x="0" y="3974093"/>
            <a:ext cx="12173707" cy="0"/>
          </a:xfrm>
          <a:prstGeom prst="line">
            <a:avLst/>
          </a:prstGeom>
          <a:ln w="31750">
            <a:gradFill>
              <a:gsLst>
                <a:gs pos="0">
                  <a:srgbClr val="00A5A6"/>
                </a:gs>
                <a:gs pos="100000">
                  <a:srgbClr val="9CBEDE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主标题"/>
          <p:cNvSpPr txBox="1"/>
          <p:nvPr/>
        </p:nvSpPr>
        <p:spPr>
          <a:xfrm>
            <a:off x="762000" y="1892300"/>
            <a:ext cx="10668000" cy="863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4600" b="1" dirty="0">
                <a:solidFill>
                  <a:srgbClr val="FFFFFF"/>
                </a:solidFill>
                <a:latin typeface="微软雅黑"/>
                <a:ea typeface="微软雅黑"/>
              </a:rPr>
              <a:t>彼岸物理规律发现挑战赛</a:t>
            </a:r>
            <a:endParaRPr lang="zh-CN" sz="4600"/>
          </a:p>
        </p:txBody>
      </p:sp>
      <p:sp>
        <p:nvSpPr>
          <p:cNvPr id="31" name="英文标题"/>
          <p:cNvSpPr txBox="1"/>
          <p:nvPr/>
        </p:nvSpPr>
        <p:spPr>
          <a:xfrm>
            <a:off x="698500" y="2768600"/>
            <a:ext cx="1079500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200" b="0" dirty="0">
                <a:solidFill>
                  <a:srgbClr val="FFFFFF"/>
                </a:solidFill>
                <a:latin typeface="微软雅黑"/>
                <a:ea typeface="微软雅黑"/>
              </a:rPr>
              <a:t>The Other Shore: Physical Law Discovery Challenge</a:t>
            </a:r>
            <a:endParaRPr lang="zh-CN" sz="2200"/>
          </a:p>
        </p:txBody>
      </p:sp>
      <p:sp>
        <p:nvSpPr>
          <p:cNvPr id="32" name="课题介绍"/>
          <p:cNvSpPr txBox="1"/>
          <p:nvPr/>
        </p:nvSpPr>
        <p:spPr>
          <a:xfrm>
            <a:off x="1016000" y="3403600"/>
            <a:ext cx="10160000" cy="508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800" b="1" dirty="0">
                <a:solidFill>
                  <a:srgbClr val="FFFFFF"/>
                </a:solidFill>
                <a:latin typeface="微软雅黑"/>
                <a:ea typeface="微软雅黑"/>
              </a:rPr>
              <a:t>课题介绍</a:t>
            </a:r>
            <a:endParaRPr lang="zh-CN" sz="2800"/>
          </a:p>
        </p:txBody>
      </p:sp>
      <p:sp>
        <p:nvSpPr>
          <p:cNvPr id="33" name="任务编号"/>
          <p:cNvSpPr txBox="1"/>
          <p:nvPr/>
        </p:nvSpPr>
        <p:spPr>
          <a:xfrm>
            <a:off x="1016000" y="4978400"/>
            <a:ext cx="10160000" cy="571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800" b="1" dirty="0">
                <a:solidFill>
                  <a:srgbClr val="335693"/>
                </a:solidFill>
                <a:latin typeface="微软雅黑"/>
                <a:ea typeface="微软雅黑"/>
              </a:rPr>
              <a:t>任务编号：SHORE-PLM-001</a:t>
            </a:r>
            <a:endParaRPr lang="zh-CN" sz="2800"/>
          </a:p>
        </p:txBody>
      </p:sp>
      <p:sp>
        <p:nvSpPr>
          <p:cNvPr id="34" name="封面任务概括"/>
          <p:cNvSpPr txBox="1"/>
          <p:nvPr/>
        </p:nvSpPr>
        <p:spPr>
          <a:xfrm>
            <a:off x="889000" y="5753100"/>
            <a:ext cx="1041400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0" dirty="0">
                <a:solidFill>
                  <a:srgbClr val="335693"/>
                </a:solidFill>
                <a:latin typeface="微软雅黑"/>
                <a:ea typeface="微软雅黑"/>
              </a:rPr>
              <a:t>用开源大模型，探索未知宇宙的运动规律</a:t>
            </a:r>
            <a:endParaRPr lang="zh-CN" sz="2300"/>
          </a:p>
        </p:txBody>
      </p:sp>
    </p:spTree>
    <p:extLst>
      <p:ext uri="{BB962C8B-B14F-4D97-AF65-F5344CB8AC3E}">
        <p14:creationId xmlns:p14="http://schemas.microsoft.com/office/powerpoint/2010/main" val="3216933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E6D9-E350-9663-1608-54F48B45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>
            <a:extLst>
              <a:ext uri="{FF2B5EF4-FFF2-40B4-BE49-F238E27FC236}">
                <a16:creationId xmlns:a16="http://schemas.microsoft.com/office/drawing/2014/main" id="{E92A4664-38CA-63B0-13A5-688F54A57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277" y="274817"/>
            <a:ext cx="10515600" cy="768624"/>
          </a:xfrm>
        </p:spPr>
        <p:txBody>
          <a:bodyPr/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3600" b="1" dirty="0">
                <a:solidFill>
                  <a:srgbClr val="335693"/>
                </a:solidFill>
                <a:latin typeface="微软雅黑"/>
                <a:ea typeface="微软雅黑"/>
              </a:rPr>
              <a:t>任务背景：裂隙另一侧的宇宙</a:t>
            </a:r>
            <a:endParaRPr lang="zh-CN" sz="36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6E058D9-D615-8D29-DD46-760AAC7BC4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27" y="220981"/>
            <a:ext cx="162560" cy="876300"/>
          </a:xfrm>
          <a:prstGeom prst="rect">
            <a:avLst/>
          </a:prstGeom>
        </p:spPr>
      </p:pic>
      <p:sp>
        <p:nvSpPr>
          <p:cNvPr id="30" name="故事"/>
          <p:cNvSpPr txBox="1"/>
          <p:nvPr/>
        </p:nvSpPr>
        <p:spPr>
          <a:xfrm>
            <a:off x="762000" y="1625600"/>
            <a:ext cx="5969000" cy="990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500" b="0" dirty="0">
                <a:solidFill>
                  <a:srgbClr val="243746"/>
                </a:solidFill>
                <a:latin typeface="微软雅黑"/>
                <a:ea typeface="微软雅黑"/>
              </a:rPr>
              <a:t>2049 年，一次对撞机异常运行，</a:t>
            </a:r>
            <a:endParaRPr lang="zh-CN" sz="25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500" b="0" dirty="0">
                <a:solidFill>
                  <a:srgbClr val="243746"/>
                </a:solidFill>
                <a:latin typeface="微软雅黑"/>
                <a:ea typeface="微软雅黑"/>
              </a:rPr>
              <a:t>撕开了通往“彼岸”的裂隙。</a:t>
            </a:r>
            <a:endParaRPr lang="zh-CN" sz="2500"/>
          </a:p>
        </p:txBody>
      </p:sp>
      <p:sp>
        <p:nvSpPr>
          <p:cNvPr id="31" name="任务限制"/>
          <p:cNvSpPr txBox="1"/>
          <p:nvPr/>
        </p:nvSpPr>
        <p:spPr>
          <a:xfrm>
            <a:off x="762000" y="2946400"/>
            <a:ext cx="5969000" cy="990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500" b="0" dirty="0">
                <a:solidFill>
                  <a:srgbClr val="243746"/>
                </a:solidFill>
                <a:latin typeface="微软雅黑"/>
                <a:ea typeface="微软雅黑"/>
              </a:rPr>
              <a:t>人过不去，只能投放探针，</a:t>
            </a:r>
            <a:endParaRPr lang="zh-CN" sz="25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500" b="0" dirty="0">
                <a:solidFill>
                  <a:srgbClr val="243746"/>
                </a:solidFill>
                <a:latin typeface="微软雅黑"/>
                <a:ea typeface="微软雅黑"/>
              </a:rPr>
              <a:t>接收带噪声的遥测信号。</a:t>
            </a:r>
            <a:endParaRPr lang="zh-CN" sz="2500"/>
          </a:p>
        </p:txBody>
      </p:sp>
      <p:sp>
        <p:nvSpPr>
          <p:cNvPr id="32" name="目标"/>
          <p:cNvSpPr txBox="1"/>
          <p:nvPr/>
        </p:nvSpPr>
        <p:spPr>
          <a:xfrm>
            <a:off x="762000" y="4267200"/>
            <a:ext cx="5969000" cy="1066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600" b="1" dirty="0">
                <a:solidFill>
                  <a:srgbClr val="335693"/>
                </a:solidFill>
                <a:latin typeface="微软雅黑"/>
                <a:ea typeface="微软雅黑"/>
              </a:rPr>
              <a:t>让开源大模型自主实验，</a:t>
            </a:r>
            <a:endParaRPr lang="zh-CN" sz="26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600" b="1" dirty="0">
                <a:solidFill>
                  <a:srgbClr val="335693"/>
                </a:solidFill>
                <a:latin typeface="微软雅黑"/>
                <a:ea typeface="微软雅黑"/>
              </a:rPr>
              <a:t>找出能够预言运动的规律。</a:t>
            </a:r>
            <a:endParaRPr lang="zh-CN" sz="2600"/>
          </a:p>
        </p:txBody>
      </p:sp>
      <p:pic>
        <p:nvPicPr>
          <p:cNvPr id="33" name="M74星系示意" descr="M74旋涡星系，非正式宇宙结构。NASA, ESA, and the Hubble Heritage (STScI/AURA)-ESA/Hubble Collaboration; acknowledgement R. Chandar and J. Miller.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39000" y="1511300"/>
            <a:ext cx="4064000" cy="3911600"/>
          </a:xfrm>
          <a:prstGeom prst="rect">
            <a:avLst/>
          </a:prstGeom>
        </p:spPr>
      </p:pic>
      <p:sp>
        <p:nvSpPr>
          <p:cNvPr id="34" name="图片说明"/>
          <p:cNvSpPr txBox="1"/>
          <p:nvPr/>
        </p:nvSpPr>
        <p:spPr>
          <a:xfrm>
            <a:off x="7150100" y="5511800"/>
            <a:ext cx="4241800" cy="279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1300" b="0" dirty="0">
                <a:solidFill>
                  <a:srgbClr val="576B7E"/>
                </a:solidFill>
                <a:latin typeface="微软雅黑"/>
                <a:ea typeface="微软雅黑"/>
              </a:rPr>
              <a:t>M74 旋涡星系（示意）· NASA / ESA</a:t>
            </a:r>
            <a:endParaRPr lang="zh-CN" sz="1300"/>
          </a:p>
        </p:txBody>
      </p:sp>
      <p:sp>
        <p:nvSpPr>
          <p:cNvPr id="35" name="资源摘要"/>
          <p:cNvSpPr txBox="1"/>
          <p:nvPr/>
        </p:nvSpPr>
        <p:spPr>
          <a:xfrm>
            <a:off x="762000" y="6083300"/>
            <a:ext cx="10668000" cy="444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200" b="1" dirty="0">
                <a:solidFill>
                  <a:srgbClr val="335693"/>
                </a:solidFill>
                <a:latin typeface="微软雅黑"/>
                <a:ea typeface="微软雅黑"/>
              </a:rPr>
              <a:t>每组 3 人  ·  48 小时  ·  4 × H200（每卡 141GB）</a:t>
            </a:r>
            <a:endParaRPr lang="zh-CN" sz="2200"/>
          </a:p>
        </p:txBody>
      </p:sp>
    </p:spTree>
    <p:extLst>
      <p:ext uri="{BB962C8B-B14F-4D97-AF65-F5344CB8AC3E}">
        <p14:creationId xmlns:p14="http://schemas.microsoft.com/office/powerpoint/2010/main" val="1351549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E6D9-E350-9663-1608-54F48B45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>
            <a:extLst>
              <a:ext uri="{FF2B5EF4-FFF2-40B4-BE49-F238E27FC236}">
                <a16:creationId xmlns:a16="http://schemas.microsoft.com/office/drawing/2014/main" id="{E92A4664-38CA-63B0-13A5-688F54A57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277" y="274817"/>
            <a:ext cx="10515600" cy="768624"/>
          </a:xfrm>
        </p:spPr>
        <p:txBody>
          <a:bodyPr/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3600" b="1" dirty="0">
                <a:solidFill>
                  <a:srgbClr val="335693"/>
                </a:solidFill>
                <a:latin typeface="微软雅黑"/>
                <a:ea typeface="微软雅黑"/>
              </a:rPr>
              <a:t>目标宇宙：六个公开，九个未知</a:t>
            </a:r>
            <a:endParaRPr lang="zh-CN" sz="36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6E058D9-D615-8D29-DD46-760AAC7BC4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27" y="220981"/>
            <a:ext cx="162560" cy="876300"/>
          </a:xfrm>
          <a:prstGeom prst="rect">
            <a:avLst/>
          </a:prstGeom>
        </p:spPr>
      </p:pic>
      <p:sp>
        <p:nvSpPr>
          <p:cNvPr id="30" name="开发与正式范围"/>
          <p:cNvSpPr txBox="1"/>
          <p:nvPr/>
        </p:nvSpPr>
        <p:spPr>
          <a:xfrm>
            <a:off x="762000" y="1549400"/>
            <a:ext cx="10668000" cy="482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400" b="0" dirty="0">
                <a:solidFill>
                  <a:srgbClr val="243746"/>
                </a:solidFill>
                <a:latin typeface="微软雅黑"/>
                <a:ea typeface="微软雅黑"/>
              </a:rPr>
              <a:t>公开宇宙提供完整模拟器与自测程序，可反复实验和改进。</a:t>
            </a:r>
            <a:endParaRPr lang="zh-CN" sz="2400"/>
          </a:p>
        </p:txBody>
      </p:sp>
      <p:graphicFrame>
        <p:nvGraphicFramePr>
          <p:cNvPr id="31" name="宇宙分级表"/>
          <p:cNvGraphicFramePr/>
          <p:nvPr/>
        </p:nvGraphicFramePr>
        <p:xfrm>
          <a:off x="762000" y="2324100"/>
          <a:ext cx="10668000" cy="3098800"/>
        </p:xfrm>
        <a:graphic>
          <a:graphicData uri="http://schemas.openxmlformats.org/drawingml/2006/table">
            <a:tbl>
              <a:tblPr firstRow="1" bandRow="0"/>
              <a:tblGrid>
                <a:gridCol w="1651000"/>
                <a:gridCol w="2159000"/>
                <a:gridCol w="5207000"/>
                <a:gridCol w="1651000"/>
              </a:tblGrid>
              <a:tr h="622300">
                <a:tc>
                  <a:txBody>
                    <a:bodyPr anchor="ctr" lIns="127000" rIns="127000" tIns="63500" bIns="63500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难度档位</a:t>
                      </a:r>
                      <a:endParaRPr lang="zh-CN" sz="2100"/>
                    </a:p>
                  </a:txBody>
                  <a:tcPr marL="101600" marR="101600" marT="76200" marB="762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35693"/>
                    </a:solidFill>
                  </a:tcPr>
                </a:tc>
                <a:tc>
                  <a:txBody>
                    <a:bodyPr anchor="ctr" lIns="127000" rIns="127000" tIns="63500" bIns="63500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公开开发宇宙</a:t>
                      </a:r>
                      <a:endParaRPr lang="zh-CN" sz="2100"/>
                    </a:p>
                  </a:txBody>
                  <a:tcPr marL="101600" marR="101600" marT="76200" marB="762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35693"/>
                    </a:solidFill>
                  </a:tcPr>
                </a:tc>
                <a:tc>
                  <a:txBody>
                    <a:bodyPr anchor="ctr" lIns="127000" rIns="127000" tIns="63500" bIns="63500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正式宇宙名称</a:t>
                      </a:r>
                      <a:endParaRPr lang="zh-CN" sz="2100"/>
                    </a:p>
                  </a:txBody>
                  <a:tcPr marL="101600" marR="101600" marT="76200" marB="762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35693"/>
                    </a:solidFill>
                  </a:tcPr>
                </a:tc>
                <a:tc>
                  <a:txBody>
                    <a:bodyPr anchor="ctr" lIns="127000" rIns="127000" tIns="63500" bIns="63500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计分权重</a:t>
                      </a:r>
                      <a:endParaRPr lang="zh-CN" sz="2100"/>
                    </a:p>
                  </a:txBody>
                  <a:tcPr marL="101600" marR="101600" marT="76200" marB="762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35693"/>
                    </a:solidFill>
                  </a:tcPr>
                </a:tc>
              </a:tr>
              <a:tr h="825500">
                <a:tc>
                  <a:txBody>
                    <a:bodyPr anchor="ctr" lIns="127000" rIns="127000" tIns="63500" bIns="63500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200" b="0" dirty="0">
                          <a:solidFill>
                            <a:srgbClr val="243746"/>
                          </a:solidFill>
                          <a:latin typeface="微软雅黑"/>
                          <a:ea typeface="微软雅黑"/>
                        </a:rPr>
                        <a:t>一级</a:t>
                      </a:r>
                      <a:endParaRPr lang="zh-CN" sz="2200"/>
                    </a:p>
                  </a:txBody>
                  <a:tcPr marL="101600" marR="101600" marT="76200" marB="762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DF4FA"/>
                    </a:solidFill>
                  </a:tcPr>
                </a:tc>
                <a:tc>
                  <a:txBody>
                    <a:bodyPr anchor="ctr" lIns="127000" rIns="127000" tIns="63500" bIns="63500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200" b="0" dirty="0">
                          <a:solidFill>
                            <a:srgbClr val="243746"/>
                          </a:solidFill>
                          <a:latin typeface="微软雅黑"/>
                          <a:ea typeface="微软雅黑"/>
                        </a:rPr>
                        <a:t>1、2 号</a:t>
                      </a:r>
                      <a:endParaRPr lang="zh-CN" sz="2200"/>
                    </a:p>
                  </a:txBody>
                  <a:tcPr marL="101600" marR="101600" marT="76200" marB="762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DF4FA"/>
                    </a:solidFill>
                  </a:tcPr>
                </a:tc>
                <a:tc>
                  <a:txBody>
                    <a:bodyPr anchor="ctr" lIns="127000" rIns="127000" tIns="63500" bIns="63500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200" b="0" dirty="0">
                          <a:solidFill>
                            <a:srgbClr val="243746"/>
                          </a:solidFill>
                          <a:latin typeface="微软雅黑"/>
                          <a:ea typeface="微软雅黑"/>
                        </a:rPr>
                        <a:t>Adam · Lilith · Tabris</a:t>
                      </a:r>
                      <a:endParaRPr lang="zh-CN" sz="2200"/>
                    </a:p>
                  </a:txBody>
                  <a:tcPr marL="101600" marR="101600" marT="76200" marB="762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DF4FA"/>
                    </a:solidFill>
                  </a:tcPr>
                </a:tc>
                <a:tc>
                  <a:txBody>
                    <a:bodyPr anchor="ctr" lIns="127000" rIns="127000" tIns="63500" bIns="63500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200" b="0" dirty="0">
                          <a:solidFill>
                            <a:srgbClr val="243746"/>
                          </a:solidFill>
                          <a:latin typeface="微软雅黑"/>
                          <a:ea typeface="微软雅黑"/>
                        </a:rPr>
                        <a:t>30%</a:t>
                      </a:r>
                      <a:endParaRPr lang="zh-CN" sz="2200"/>
                    </a:p>
                  </a:txBody>
                  <a:tcPr marL="101600" marR="101600" marT="76200" marB="762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DF4FA"/>
                    </a:solidFill>
                  </a:tcPr>
                </a:tc>
              </a:tr>
              <a:tr h="825500">
                <a:tc>
                  <a:txBody>
                    <a:bodyPr anchor="ctr" lIns="127000" rIns="127000" tIns="63500" bIns="63500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200" b="0" dirty="0">
                          <a:solidFill>
                            <a:srgbClr val="243746"/>
                          </a:solidFill>
                          <a:latin typeface="微软雅黑"/>
                          <a:ea typeface="微软雅黑"/>
                        </a:rPr>
                        <a:t>二级</a:t>
                      </a:r>
                      <a:endParaRPr lang="zh-CN" sz="2200"/>
                    </a:p>
                  </a:txBody>
                  <a:tcPr marL="101600" marR="101600" marT="76200" marB="762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ctr" lIns="127000" rIns="127000" tIns="63500" bIns="63500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200" b="0" dirty="0">
                          <a:solidFill>
                            <a:srgbClr val="243746"/>
                          </a:solidFill>
                          <a:latin typeface="微软雅黑"/>
                          <a:ea typeface="微软雅黑"/>
                        </a:rPr>
                        <a:t>3、4 号</a:t>
                      </a:r>
                      <a:endParaRPr lang="zh-CN" sz="2200"/>
                    </a:p>
                  </a:txBody>
                  <a:tcPr marL="101600" marR="101600" marT="76200" marB="762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ctr" lIns="127000" rIns="127000" tIns="63500" bIns="63500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200" b="0" dirty="0">
                          <a:solidFill>
                            <a:srgbClr val="243746"/>
                          </a:solidFill>
                          <a:latin typeface="微软雅黑"/>
                          <a:ea typeface="微软雅黑"/>
                        </a:rPr>
                        <a:t>Sachiel · Ramiel · Matriel</a:t>
                      </a:r>
                      <a:endParaRPr lang="zh-CN" sz="2200"/>
                    </a:p>
                  </a:txBody>
                  <a:tcPr marL="101600" marR="101600" marT="76200" marB="762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ctr" lIns="127000" rIns="127000" tIns="63500" bIns="63500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200" b="0" dirty="0">
                          <a:solidFill>
                            <a:srgbClr val="243746"/>
                          </a:solidFill>
                          <a:latin typeface="微软雅黑"/>
                          <a:ea typeface="微软雅黑"/>
                        </a:rPr>
                        <a:t>40%</a:t>
                      </a:r>
                      <a:endParaRPr lang="zh-CN" sz="2200"/>
                    </a:p>
                  </a:txBody>
                  <a:tcPr marL="101600" marR="101600" marT="76200" marB="762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6F9FC"/>
                    </a:solidFill>
                  </a:tcPr>
                </a:tc>
              </a:tr>
              <a:tr h="825500">
                <a:tc>
                  <a:txBody>
                    <a:bodyPr anchor="ctr" lIns="127000" rIns="127000" tIns="63500" bIns="63500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200" b="0" dirty="0">
                          <a:solidFill>
                            <a:srgbClr val="243746"/>
                          </a:solidFill>
                          <a:latin typeface="微软雅黑"/>
                          <a:ea typeface="微软雅黑"/>
                        </a:rPr>
                        <a:t>三级</a:t>
                      </a:r>
                      <a:endParaRPr lang="zh-CN" sz="2200"/>
                    </a:p>
                  </a:txBody>
                  <a:tcPr marL="101600" marR="101600" marT="76200" marB="762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DF4FA"/>
                    </a:solidFill>
                  </a:tcPr>
                </a:tc>
                <a:tc>
                  <a:txBody>
                    <a:bodyPr anchor="ctr" lIns="127000" rIns="127000" tIns="63500" bIns="63500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200" b="0" dirty="0">
                          <a:solidFill>
                            <a:srgbClr val="243746"/>
                          </a:solidFill>
                          <a:latin typeface="微软雅黑"/>
                          <a:ea typeface="微软雅黑"/>
                        </a:rPr>
                        <a:t>5、6 号</a:t>
                      </a:r>
                      <a:endParaRPr lang="zh-CN" sz="2200"/>
                    </a:p>
                  </a:txBody>
                  <a:tcPr marL="101600" marR="101600" marT="76200" marB="762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DF4FA"/>
                    </a:solidFill>
                  </a:tcPr>
                </a:tc>
                <a:tc>
                  <a:txBody>
                    <a:bodyPr anchor="ctr" lIns="127000" rIns="127000" tIns="63500" bIns="63500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200" b="0" dirty="0">
                          <a:solidFill>
                            <a:srgbClr val="243746"/>
                          </a:solidFill>
                          <a:latin typeface="微软雅黑"/>
                          <a:ea typeface="微软雅黑"/>
                        </a:rPr>
                        <a:t>Leliel · Arael · Lilin</a:t>
                      </a:r>
                      <a:endParaRPr lang="zh-CN" sz="2200"/>
                    </a:p>
                  </a:txBody>
                  <a:tcPr marL="101600" marR="101600" marT="76200" marB="762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DF4FA"/>
                    </a:solidFill>
                  </a:tcPr>
                </a:tc>
                <a:tc>
                  <a:txBody>
                    <a:bodyPr anchor="ctr" lIns="127000" rIns="127000" tIns="63500" bIns="63500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200" b="0" dirty="0">
                          <a:solidFill>
                            <a:srgbClr val="243746"/>
                          </a:solidFill>
                          <a:latin typeface="微软雅黑"/>
                          <a:ea typeface="微软雅黑"/>
                        </a:rPr>
                        <a:t>30%</a:t>
                      </a:r>
                      <a:endParaRPr lang="zh-CN" sz="2200"/>
                    </a:p>
                  </a:txBody>
                  <a:tcPr marL="101600" marR="101600" marT="76200" marB="762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DF4FA"/>
                    </a:solidFill>
                  </a:tcPr>
                </a:tc>
              </a:tr>
            </a:tbl>
          </a:graphicData>
        </a:graphic>
      </p:graphicFrame>
      <p:sp>
        <p:nvSpPr>
          <p:cNvPr id="32" name="统一事实"/>
          <p:cNvSpPr txBox="1"/>
          <p:nvPr/>
        </p:nvSpPr>
        <p:spPr>
          <a:xfrm>
            <a:off x="762000" y="5753100"/>
            <a:ext cx="10668000" cy="393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400" b="1" dirty="0">
                <a:solidFill>
                  <a:srgbClr val="335693"/>
                </a:solidFill>
                <a:latin typeface="微软雅黑"/>
                <a:ea typeface="微软雅黑"/>
              </a:rPr>
              <a:t>所有宇宙均为二维；各宇宙的定律参数固定。</a:t>
            </a:r>
            <a:endParaRPr lang="zh-CN" sz="2400"/>
          </a:p>
        </p:txBody>
      </p:sp>
      <p:sp>
        <p:nvSpPr>
          <p:cNvPr id="33" name="难度注释"/>
          <p:cNvSpPr txBox="1"/>
          <p:nvPr/>
        </p:nvSpPr>
        <p:spPr>
          <a:xfrm>
            <a:off x="762000" y="6261100"/>
            <a:ext cx="10668000" cy="317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1700" b="0" dirty="0">
                <a:solidFill>
                  <a:srgbClr val="576B7E"/>
                </a:solidFill>
                <a:latin typeface="微软雅黑"/>
                <a:ea typeface="微软雅黑"/>
              </a:rPr>
              <a:t>权重仅用于九个正式宇宙，同档等权；档位不代表实际得分高低。</a:t>
            </a:r>
            <a:endParaRPr lang="zh-CN" sz="1700"/>
          </a:p>
        </p:txBody>
      </p:sp>
    </p:spTree>
    <p:extLst>
      <p:ext uri="{BB962C8B-B14F-4D97-AF65-F5344CB8AC3E}">
        <p14:creationId xmlns:p14="http://schemas.microsoft.com/office/powerpoint/2010/main" val="1351549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E6D9-E350-9663-1608-54F48B45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>
            <a:extLst>
              <a:ext uri="{FF2B5EF4-FFF2-40B4-BE49-F238E27FC236}">
                <a16:creationId xmlns:a16="http://schemas.microsoft.com/office/drawing/2014/main" id="{E92A4664-38CA-63B0-13A5-688F54A57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277" y="274817"/>
            <a:ext cx="10515600" cy="768624"/>
          </a:xfrm>
        </p:spPr>
        <p:txBody>
          <a:bodyPr/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3600" b="1" dirty="0">
                <a:solidFill>
                  <a:srgbClr val="335693"/>
                </a:solidFill>
                <a:latin typeface="微软雅黑"/>
                <a:ea typeface="微软雅黑"/>
              </a:rPr>
              <a:t>实验方式：向彼岸投放探针</a:t>
            </a:r>
            <a:endParaRPr lang="zh-CN" sz="36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6E058D9-D615-8D29-DD46-760AAC7BC4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27" y="220981"/>
            <a:ext cx="162560" cy="876300"/>
          </a:xfrm>
          <a:prstGeom prst="rect">
            <a:avLst/>
          </a:prstGeom>
        </p:spPr>
      </p:pic>
      <p:sp>
        <p:nvSpPr>
          <p:cNvPr id="30" name="示意画布"/>
          <p:cNvSpPr txBox="1"/>
          <p:nvPr/>
        </p:nvSpPr>
        <p:spPr>
          <a:xfrm>
            <a:off x="762000" y="1562100"/>
            <a:ext cx="5486400" cy="3898900"/>
          </a:xfrm>
          <a:prstGeom prst="rect">
            <a:avLst/>
          </a:prstGeom>
          <a:solidFill>
            <a:srgbClr val="F5F9FC"/>
          </a:solidFill>
          <a:ln w="12700">
            <a:solidFill>
              <a:srgbClr val="D9E5F0"/>
            </a:solidFill>
          </a:ln>
        </p:spPr>
      </p:sp>
      <p:sp>
        <p:nvSpPr>
          <p:cNvPr id="31" name="图示标题"/>
          <p:cNvSpPr txBox="1"/>
          <p:nvPr/>
        </p:nvSpPr>
        <p:spPr>
          <a:xfrm>
            <a:off x="977900" y="1739900"/>
            <a:ext cx="4889500" cy="342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1800" b="0" dirty="0">
                <a:solidFill>
                  <a:srgbClr val="576B7E"/>
                </a:solidFill>
                <a:latin typeface="微软雅黑"/>
                <a:ea typeface="微软雅黑"/>
              </a:rPr>
              <a:t>二维宇宙 · 实验示意</a:t>
            </a:r>
            <a:endParaRPr lang="zh-CN" sz="1800"/>
          </a:p>
        </p:txBody>
      </p:sp>
      <p:sp>
        <p:nvSpPr>
          <p:cNvPr id="32" name="可见天体A"/>
          <p:cNvSpPr txBox="1"/>
          <p:nvPr/>
        </p:nvSpPr>
        <p:spPr>
          <a:xfrm>
            <a:off x="1689100" y="2908300"/>
            <a:ext cx="482600" cy="482600"/>
          </a:xfrm>
          <a:prstGeom prst="ellipse">
            <a:avLst/>
          </a:prstGeom>
          <a:solidFill>
            <a:srgbClr val="1A9BB1"/>
          </a:solidFill>
          <a:ln w="12700">
            <a:noFill/>
          </a:ln>
        </p:spPr>
      </p:sp>
      <p:sp>
        <p:nvSpPr>
          <p:cNvPr id="33" name="可见天体B"/>
          <p:cNvSpPr txBox="1"/>
          <p:nvPr/>
        </p:nvSpPr>
        <p:spPr>
          <a:xfrm>
            <a:off x="4406900" y="2286000"/>
            <a:ext cx="317500" cy="317500"/>
          </a:xfrm>
          <a:prstGeom prst="ellipse">
            <a:avLst/>
          </a:prstGeom>
          <a:solidFill>
            <a:srgbClr val="6EBBC6"/>
          </a:solidFill>
          <a:ln w="12700">
            <a:noFill/>
          </a:ln>
        </p:spPr>
      </p:sp>
      <p:sp>
        <p:nvSpPr>
          <p:cNvPr id="34" name="可见背景标签"/>
          <p:cNvSpPr txBox="1"/>
          <p:nvPr/>
        </p:nvSpPr>
        <p:spPr>
          <a:xfrm>
            <a:off x="1181100" y="3568700"/>
            <a:ext cx="16510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1900" b="0" dirty="0">
                <a:solidFill>
                  <a:srgbClr val="335693"/>
                </a:solidFill>
                <a:latin typeface="微软雅黑"/>
                <a:ea typeface="微软雅黑"/>
              </a:rPr>
              <a:t>可见天体</a:t>
            </a:r>
            <a:endParaRPr lang="zh-CN" sz="1900"/>
          </a:p>
        </p:txBody>
      </p:sp>
      <p:cxnSp>
        <p:nvCxnSpPr>
          <p:cNvPr id="35" name="背景标线"/>
          <p:cNvCxnSpPr/>
          <p:nvPr/>
        </p:nvCxnSpPr>
        <p:spPr>
          <a:xfrm flipH="1" flipV="1">
            <a:off x="1943100" y="3403600"/>
            <a:ext cx="38100" cy="63500"/>
          </a:xfrm>
          <a:prstGeom prst="line">
            <a:avLst/>
          </a:prstGeom>
          <a:ln w="12700">
            <a:solidFill>
              <a:srgbClr val="576B7E"/>
            </a:solidFill>
          </a:ln>
        </p:spPr>
      </p:cxnSp>
      <p:cxnSp>
        <p:nvCxnSpPr>
          <p:cNvPr id="36" name="轨迹段0"/>
          <p:cNvCxnSpPr/>
          <p:nvPr/>
        </p:nvCxnSpPr>
        <p:spPr>
          <a:xfrm flipV="1">
            <a:off x="1663700" y="4584700"/>
            <a:ext cx="774700" cy="203200"/>
          </a:xfrm>
          <a:prstGeom prst="line">
            <a:avLst/>
          </a:prstGeom>
          <a:ln w="29210">
            <a:solidFill>
              <a:srgbClr val="007EB5"/>
            </a:solidFill>
          </a:ln>
        </p:spPr>
      </p:cxnSp>
      <p:cxnSp>
        <p:nvCxnSpPr>
          <p:cNvPr id="37" name="轨迹段1"/>
          <p:cNvCxnSpPr/>
          <p:nvPr/>
        </p:nvCxnSpPr>
        <p:spPr>
          <a:xfrm flipV="1">
            <a:off x="2438400" y="4203700"/>
            <a:ext cx="774700" cy="381000"/>
          </a:xfrm>
          <a:prstGeom prst="line">
            <a:avLst/>
          </a:prstGeom>
          <a:ln w="29210">
            <a:solidFill>
              <a:srgbClr val="007EB5"/>
            </a:solidFill>
          </a:ln>
        </p:spPr>
      </p:cxnSp>
      <p:cxnSp>
        <p:nvCxnSpPr>
          <p:cNvPr id="38" name="轨迹段2"/>
          <p:cNvCxnSpPr/>
          <p:nvPr/>
        </p:nvCxnSpPr>
        <p:spPr>
          <a:xfrm flipV="1">
            <a:off x="3213100" y="3644900"/>
            <a:ext cx="736600" cy="558800"/>
          </a:xfrm>
          <a:prstGeom prst="line">
            <a:avLst/>
          </a:prstGeom>
          <a:ln w="29210">
            <a:solidFill>
              <a:srgbClr val="007EB5"/>
            </a:solidFill>
          </a:ln>
        </p:spPr>
      </p:cxnSp>
      <p:cxnSp>
        <p:nvCxnSpPr>
          <p:cNvPr id="39" name="轨迹段3"/>
          <p:cNvCxnSpPr/>
          <p:nvPr/>
        </p:nvCxnSpPr>
        <p:spPr>
          <a:xfrm flipV="1">
            <a:off x="3949700" y="3098800"/>
            <a:ext cx="647700" cy="546100"/>
          </a:xfrm>
          <a:prstGeom prst="line">
            <a:avLst/>
          </a:prstGeom>
          <a:ln w="29210">
            <a:solidFill>
              <a:srgbClr val="007EB5"/>
            </a:solidFill>
          </a:ln>
        </p:spPr>
      </p:cxnSp>
      <p:cxnSp>
        <p:nvCxnSpPr>
          <p:cNvPr id="40" name="轨迹段4"/>
          <p:cNvCxnSpPr/>
          <p:nvPr/>
        </p:nvCxnSpPr>
        <p:spPr>
          <a:xfrm flipV="1">
            <a:off x="4597400" y="2768600"/>
            <a:ext cx="673100" cy="330200"/>
          </a:xfrm>
          <a:prstGeom prst="line">
            <a:avLst/>
          </a:prstGeom>
          <a:ln w="29210">
            <a:solidFill>
              <a:srgbClr val="007EB5"/>
            </a:solidFill>
            <a:tailEnd type="triangle" w="sm" len="sm"/>
          </a:ln>
        </p:spPr>
      </p:cxnSp>
      <p:sp>
        <p:nvSpPr>
          <p:cNvPr id="41" name="轨迹采样点0"/>
          <p:cNvSpPr txBox="1"/>
          <p:nvPr/>
        </p:nvSpPr>
        <p:spPr>
          <a:xfrm>
            <a:off x="1612900" y="4737100"/>
            <a:ext cx="101600" cy="101600"/>
          </a:xfrm>
          <a:prstGeom prst="ellipse">
            <a:avLst/>
          </a:prstGeom>
          <a:solidFill>
            <a:srgbClr val="007EB5"/>
          </a:solidFill>
          <a:ln w="12700">
            <a:noFill/>
          </a:ln>
        </p:spPr>
      </p:sp>
      <p:sp>
        <p:nvSpPr>
          <p:cNvPr id="42" name="轨迹采样点1"/>
          <p:cNvSpPr txBox="1"/>
          <p:nvPr/>
        </p:nvSpPr>
        <p:spPr>
          <a:xfrm>
            <a:off x="2387600" y="4533900"/>
            <a:ext cx="101600" cy="101600"/>
          </a:xfrm>
          <a:prstGeom prst="ellipse">
            <a:avLst/>
          </a:prstGeom>
          <a:solidFill>
            <a:srgbClr val="007EB5"/>
          </a:solidFill>
          <a:ln w="12700">
            <a:noFill/>
          </a:ln>
        </p:spPr>
      </p:sp>
      <p:sp>
        <p:nvSpPr>
          <p:cNvPr id="43" name="轨迹采样点2"/>
          <p:cNvSpPr txBox="1"/>
          <p:nvPr/>
        </p:nvSpPr>
        <p:spPr>
          <a:xfrm>
            <a:off x="3162300" y="4152900"/>
            <a:ext cx="101600" cy="101600"/>
          </a:xfrm>
          <a:prstGeom prst="ellipse">
            <a:avLst/>
          </a:prstGeom>
          <a:solidFill>
            <a:srgbClr val="007EB5"/>
          </a:solidFill>
          <a:ln w="12700">
            <a:noFill/>
          </a:ln>
        </p:spPr>
      </p:sp>
      <p:sp>
        <p:nvSpPr>
          <p:cNvPr id="44" name="轨迹采样点3"/>
          <p:cNvSpPr txBox="1"/>
          <p:nvPr/>
        </p:nvSpPr>
        <p:spPr>
          <a:xfrm>
            <a:off x="3898900" y="3594100"/>
            <a:ext cx="101600" cy="101600"/>
          </a:xfrm>
          <a:prstGeom prst="ellipse">
            <a:avLst/>
          </a:prstGeom>
          <a:solidFill>
            <a:srgbClr val="007EB5"/>
          </a:solidFill>
          <a:ln w="12700">
            <a:noFill/>
          </a:ln>
        </p:spPr>
      </p:sp>
      <p:sp>
        <p:nvSpPr>
          <p:cNvPr id="45" name="轨迹采样点4"/>
          <p:cNvSpPr txBox="1"/>
          <p:nvPr/>
        </p:nvSpPr>
        <p:spPr>
          <a:xfrm>
            <a:off x="4546600" y="3048000"/>
            <a:ext cx="101600" cy="101600"/>
          </a:xfrm>
          <a:prstGeom prst="ellipse">
            <a:avLst/>
          </a:prstGeom>
          <a:solidFill>
            <a:srgbClr val="007EB5"/>
          </a:solidFill>
          <a:ln w="12700">
            <a:noFill/>
          </a:ln>
        </p:spPr>
      </p:sp>
      <p:sp>
        <p:nvSpPr>
          <p:cNvPr id="46" name="轨迹采样点5"/>
          <p:cNvSpPr txBox="1"/>
          <p:nvPr/>
        </p:nvSpPr>
        <p:spPr>
          <a:xfrm>
            <a:off x="5219700" y="2717800"/>
            <a:ext cx="101600" cy="101600"/>
          </a:xfrm>
          <a:prstGeom prst="ellipse">
            <a:avLst/>
          </a:prstGeom>
          <a:solidFill>
            <a:srgbClr val="007EB5"/>
          </a:solidFill>
          <a:ln w="12700">
            <a:noFill/>
          </a:ln>
        </p:spPr>
      </p:sp>
      <p:sp>
        <p:nvSpPr>
          <p:cNvPr id="47" name="初始探针"/>
          <p:cNvSpPr txBox="1"/>
          <p:nvPr/>
        </p:nvSpPr>
        <p:spPr>
          <a:xfrm>
            <a:off x="1574800" y="4699000"/>
            <a:ext cx="177800" cy="177800"/>
          </a:xfrm>
          <a:prstGeom prst="ellipse">
            <a:avLst/>
          </a:prstGeom>
          <a:solidFill>
            <a:srgbClr val="ED7D31"/>
          </a:solidFill>
          <a:ln w="12700">
            <a:noFill/>
          </a:ln>
        </p:spPr>
      </p:sp>
      <p:cxnSp>
        <p:nvCxnSpPr>
          <p:cNvPr id="48" name="初速度箭头"/>
          <p:cNvCxnSpPr/>
          <p:nvPr/>
        </p:nvCxnSpPr>
        <p:spPr>
          <a:xfrm>
            <a:off x="1676400" y="4787900"/>
            <a:ext cx="876300" cy="165100"/>
          </a:xfrm>
          <a:prstGeom prst="line">
            <a:avLst/>
          </a:prstGeom>
          <a:ln w="25400">
            <a:solidFill>
              <a:srgbClr val="ED7D31"/>
            </a:solidFill>
            <a:tailEnd type="triangle" w="sm" len="sm"/>
          </a:ln>
        </p:spPr>
      </p:cxnSp>
      <p:sp>
        <p:nvSpPr>
          <p:cNvPr id="49" name="初速度标记"/>
          <p:cNvSpPr txBox="1"/>
          <p:nvPr/>
        </p:nvSpPr>
        <p:spPr>
          <a:xfrm>
            <a:off x="2616200" y="4813300"/>
            <a:ext cx="1066800" cy="330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1700" b="0" dirty="0">
                <a:solidFill>
                  <a:srgbClr val="BD581F"/>
                </a:solidFill>
                <a:latin typeface="微软雅黑"/>
                <a:ea typeface="微软雅黑"/>
              </a:rPr>
              <a:t>初速度</a:t>
            </a:r>
            <a:endParaRPr lang="zh-CN" sz="1700"/>
          </a:p>
        </p:txBody>
      </p:sp>
      <p:sp>
        <p:nvSpPr>
          <p:cNvPr id="50" name="轨迹标记"/>
          <p:cNvSpPr txBox="1"/>
          <p:nvPr/>
        </p:nvSpPr>
        <p:spPr>
          <a:xfrm>
            <a:off x="3162300" y="4229100"/>
            <a:ext cx="2895600" cy="355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1800" b="0" dirty="0">
                <a:solidFill>
                  <a:srgbClr val="335693"/>
                </a:solidFill>
                <a:latin typeface="微软雅黑"/>
                <a:ea typeface="微软雅黑"/>
              </a:rPr>
              <a:t>探针轨迹与采样读数</a:t>
            </a:r>
            <a:endParaRPr lang="zh-CN" sz="1800"/>
          </a:p>
        </p:txBody>
      </p:sp>
      <p:sp>
        <p:nvSpPr>
          <p:cNvPr id="51" name="控制项目标题"/>
          <p:cNvSpPr txBox="1"/>
          <p:nvPr/>
        </p:nvSpPr>
        <p:spPr>
          <a:xfrm>
            <a:off x="6794500" y="1714500"/>
            <a:ext cx="4572000" cy="431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500" b="1" dirty="0">
                <a:solidFill>
                  <a:srgbClr val="335693"/>
                </a:solidFill>
                <a:latin typeface="微软雅黑"/>
                <a:ea typeface="微软雅黑"/>
              </a:rPr>
              <a:t>可以控制什么？</a:t>
            </a:r>
            <a:endParaRPr lang="zh-CN" sz="2500"/>
          </a:p>
        </p:txBody>
      </p:sp>
      <p:sp>
        <p:nvSpPr>
          <p:cNvPr id="52" name="控制项目"/>
          <p:cNvSpPr txBox="1"/>
          <p:nvPr/>
        </p:nvSpPr>
        <p:spPr>
          <a:xfrm>
            <a:off x="6794500" y="2387600"/>
            <a:ext cx="4699000" cy="1803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0" dirty="0">
                <a:solidFill>
                  <a:srgbClr val="243746"/>
                </a:solidFill>
                <a:latin typeface="微软雅黑"/>
                <a:ea typeface="微软雅黑"/>
              </a:rPr>
              <a:t>探针数量、初始位置和速度</a:t>
            </a:r>
            <a:endParaRPr lang="zh-CN" sz="23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0" dirty="0">
                <a:solidFill>
                  <a:srgbClr val="243746"/>
                </a:solidFill>
                <a:latin typeface="微软雅黑"/>
                <a:ea typeface="微软雅黑"/>
              </a:rPr>
              <a:t>投放时刻</a:t>
            </a:r>
            <a:endParaRPr lang="zh-CN" sz="23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0" dirty="0">
                <a:solidFill>
                  <a:srgbClr val="243746"/>
                </a:solidFill>
                <a:latin typeface="微软雅黑"/>
                <a:ea typeface="微软雅黑"/>
              </a:rPr>
              <a:t>各宇宙协议开放的标量属性</a:t>
            </a:r>
            <a:endParaRPr lang="zh-CN" sz="2300"/>
          </a:p>
        </p:txBody>
      </p:sp>
      <p:sp>
        <p:nvSpPr>
          <p:cNvPr id="53" name="返回内容标题"/>
          <p:cNvSpPr txBox="1"/>
          <p:nvPr/>
        </p:nvSpPr>
        <p:spPr>
          <a:xfrm>
            <a:off x="6794500" y="4406900"/>
            <a:ext cx="4572000" cy="431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500" b="1" dirty="0">
                <a:solidFill>
                  <a:srgbClr val="335693"/>
                </a:solidFill>
                <a:latin typeface="微软雅黑"/>
                <a:ea typeface="微软雅黑"/>
              </a:rPr>
              <a:t>可以看到什么？</a:t>
            </a:r>
            <a:endParaRPr lang="zh-CN" sz="2500"/>
          </a:p>
        </p:txBody>
      </p:sp>
      <p:sp>
        <p:nvSpPr>
          <p:cNvPr id="54" name="返回内容"/>
          <p:cNvSpPr txBox="1"/>
          <p:nvPr/>
        </p:nvSpPr>
        <p:spPr>
          <a:xfrm>
            <a:off x="6794500" y="4991100"/>
            <a:ext cx="4699000" cy="990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200" b="0" dirty="0">
                <a:solidFill>
                  <a:srgbClr val="243746"/>
                </a:solidFill>
                <a:latin typeface="微软雅黑"/>
                <a:ea typeface="微软雅黑"/>
              </a:rPr>
              <a:t>探针的位置、速度与实际时刻</a:t>
            </a:r>
            <a:endParaRPr lang="zh-CN" sz="22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200" b="0" dirty="0">
                <a:solidFill>
                  <a:srgbClr val="243746"/>
                </a:solidFill>
                <a:latin typeface="微软雅黑"/>
                <a:ea typeface="微软雅黑"/>
              </a:rPr>
              <a:t>以及可见背景的观测记录</a:t>
            </a:r>
            <a:endParaRPr lang="zh-CN" sz="2200"/>
          </a:p>
        </p:txBody>
      </p:sp>
      <p:sp>
        <p:nvSpPr>
          <p:cNvPr id="55" name="被动性"/>
          <p:cNvSpPr txBox="1"/>
          <p:nvPr/>
        </p:nvSpPr>
        <p:spPr>
          <a:xfrm>
            <a:off x="762000" y="6134100"/>
            <a:ext cx="10668000" cy="4953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1700" b="0" dirty="0">
                <a:solidFill>
                  <a:srgbClr val="576B7E"/>
                </a:solidFill>
                <a:latin typeface="微软雅黑"/>
                <a:ea typeface="微软雅黑"/>
              </a:rPr>
              <a:t>探针独立运动，不相互作用，也不改变背景；位置带噪声，速度不额外加噪声。</a:t>
            </a:r>
            <a:endParaRPr lang="zh-CN" sz="1700"/>
          </a:p>
        </p:txBody>
      </p:sp>
    </p:spTree>
    <p:extLst>
      <p:ext uri="{BB962C8B-B14F-4D97-AF65-F5344CB8AC3E}">
        <p14:creationId xmlns:p14="http://schemas.microsoft.com/office/powerpoint/2010/main" val="1351549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E6D9-E350-9663-1608-54F48B45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>
            <a:extLst>
              <a:ext uri="{FF2B5EF4-FFF2-40B4-BE49-F238E27FC236}">
                <a16:creationId xmlns:a16="http://schemas.microsoft.com/office/drawing/2014/main" id="{E92A4664-38CA-63B0-13A5-688F54A57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277" y="274817"/>
            <a:ext cx="10515600" cy="768624"/>
          </a:xfrm>
        </p:spPr>
        <p:txBody>
          <a:bodyPr/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3600" b="1" dirty="0">
                <a:solidFill>
                  <a:srgbClr val="335693"/>
                </a:solidFill>
                <a:latin typeface="微软雅黑"/>
                <a:ea typeface="微软雅黑"/>
              </a:rPr>
              <a:t>智能体流程：实验、推断与验证</a:t>
            </a:r>
            <a:endParaRPr lang="zh-CN" sz="36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6E058D9-D615-8D29-DD46-760AAC7BC4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27" y="220981"/>
            <a:ext cx="162560" cy="876300"/>
          </a:xfrm>
          <a:prstGeom prst="rect">
            <a:avLst/>
          </a:prstGeom>
        </p:spPr>
      </p:pic>
      <p:sp>
        <p:nvSpPr>
          <p:cNvPr id="30" name="流程0"/>
          <p:cNvSpPr txBox="1"/>
          <p:nvPr/>
        </p:nvSpPr>
        <p:spPr>
          <a:xfrm>
            <a:off x="762000" y="1765300"/>
            <a:ext cx="1854200" cy="1130300"/>
          </a:xfrm>
          <a:prstGeom prst="rect">
            <a:avLst/>
          </a:prstGeom>
          <a:solidFill>
            <a:srgbClr val="EDF4FA"/>
          </a:solidFill>
          <a:ln w="12700">
            <a:noFill/>
          </a:ln>
        </p:spPr>
        <p:txBody>
          <a:bodyPr wrap="square" lIns="63500" rIns="63500" tIns="63500" bIns="6350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1" dirty="0">
                <a:solidFill>
                  <a:srgbClr val="335693"/>
                </a:solidFill>
                <a:latin typeface="微软雅黑"/>
                <a:ea typeface="微软雅黑"/>
              </a:rPr>
              <a:t>读取任务</a:t>
            </a:r>
            <a:endParaRPr lang="zh-CN" sz="2300"/>
          </a:p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1" dirty="0">
                <a:solidFill>
                  <a:srgbClr val="335693"/>
                </a:solidFill>
                <a:latin typeface="微软雅黑"/>
                <a:ea typeface="微软雅黑"/>
              </a:rPr>
              <a:t>与第一束光</a:t>
            </a:r>
            <a:endParaRPr lang="zh-CN" sz="2300"/>
          </a:p>
        </p:txBody>
      </p:sp>
      <p:cxnSp>
        <p:nvCxnSpPr>
          <p:cNvPr id="31" name="流程箭头0"/>
          <p:cNvCxnSpPr/>
          <p:nvPr/>
        </p:nvCxnSpPr>
        <p:spPr>
          <a:xfrm>
            <a:off x="2679700" y="2324100"/>
            <a:ext cx="177800" cy="0"/>
          </a:xfrm>
          <a:prstGeom prst="line">
            <a:avLst/>
          </a:prstGeom>
          <a:ln w="25400">
            <a:solidFill>
              <a:srgbClr val="007EB5"/>
            </a:solidFill>
            <a:tailEnd type="triangle" w="sm" len="sm"/>
          </a:ln>
        </p:spPr>
      </p:cxnSp>
      <p:sp>
        <p:nvSpPr>
          <p:cNvPr id="32" name="流程1"/>
          <p:cNvSpPr txBox="1"/>
          <p:nvPr/>
        </p:nvSpPr>
        <p:spPr>
          <a:xfrm>
            <a:off x="2933700" y="1765300"/>
            <a:ext cx="1854200" cy="1130300"/>
          </a:xfrm>
          <a:prstGeom prst="rect">
            <a:avLst/>
          </a:prstGeom>
          <a:solidFill>
            <a:srgbClr val="EDF4FA"/>
          </a:solidFill>
          <a:ln w="12700">
            <a:noFill/>
          </a:ln>
        </p:spPr>
        <p:txBody>
          <a:bodyPr wrap="square" lIns="63500" rIns="63500" tIns="63500" bIns="6350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1" dirty="0">
                <a:solidFill>
                  <a:srgbClr val="335693"/>
                </a:solidFill>
                <a:latin typeface="微软雅黑"/>
                <a:ea typeface="微软雅黑"/>
              </a:rPr>
              <a:t>设计实验</a:t>
            </a:r>
            <a:endParaRPr lang="zh-CN" sz="2300"/>
          </a:p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1" dirty="0">
                <a:solidFill>
                  <a:srgbClr val="335693"/>
                </a:solidFill>
                <a:latin typeface="微软雅黑"/>
                <a:ea typeface="微软雅黑"/>
              </a:rPr>
              <a:t>投放探针</a:t>
            </a:r>
            <a:endParaRPr lang="zh-CN" sz="2300"/>
          </a:p>
        </p:txBody>
      </p:sp>
      <p:cxnSp>
        <p:nvCxnSpPr>
          <p:cNvPr id="33" name="流程箭头1"/>
          <p:cNvCxnSpPr/>
          <p:nvPr/>
        </p:nvCxnSpPr>
        <p:spPr>
          <a:xfrm>
            <a:off x="4851400" y="2324100"/>
            <a:ext cx="177800" cy="0"/>
          </a:xfrm>
          <a:prstGeom prst="line">
            <a:avLst/>
          </a:prstGeom>
          <a:ln w="25400">
            <a:solidFill>
              <a:srgbClr val="007EB5"/>
            </a:solidFill>
            <a:tailEnd type="triangle" w="sm" len="sm"/>
          </a:ln>
        </p:spPr>
      </p:cxnSp>
      <p:sp>
        <p:nvSpPr>
          <p:cNvPr id="34" name="流程2"/>
          <p:cNvSpPr txBox="1"/>
          <p:nvPr/>
        </p:nvSpPr>
        <p:spPr>
          <a:xfrm>
            <a:off x="5105400" y="1765300"/>
            <a:ext cx="1854200" cy="1130300"/>
          </a:xfrm>
          <a:prstGeom prst="rect">
            <a:avLst/>
          </a:prstGeom>
          <a:solidFill>
            <a:srgbClr val="EDF4FA"/>
          </a:solidFill>
          <a:ln w="12700">
            <a:noFill/>
          </a:ln>
        </p:spPr>
        <p:txBody>
          <a:bodyPr wrap="square" lIns="63500" rIns="63500" tIns="63500" bIns="6350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1" dirty="0">
                <a:solidFill>
                  <a:srgbClr val="335693"/>
                </a:solidFill>
                <a:latin typeface="微软雅黑"/>
                <a:ea typeface="微软雅黑"/>
              </a:rPr>
              <a:t>读取观测</a:t>
            </a:r>
            <a:endParaRPr lang="zh-CN" sz="2300"/>
          </a:p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1" dirty="0">
                <a:solidFill>
                  <a:srgbClr val="335693"/>
                </a:solidFill>
                <a:latin typeface="微软雅黑"/>
                <a:ea typeface="微软雅黑"/>
              </a:rPr>
              <a:t>推断规律</a:t>
            </a:r>
            <a:endParaRPr lang="zh-CN" sz="2300"/>
          </a:p>
        </p:txBody>
      </p:sp>
      <p:cxnSp>
        <p:nvCxnSpPr>
          <p:cNvPr id="35" name="流程箭头2"/>
          <p:cNvCxnSpPr/>
          <p:nvPr/>
        </p:nvCxnSpPr>
        <p:spPr>
          <a:xfrm>
            <a:off x="7023100" y="2324100"/>
            <a:ext cx="177800" cy="0"/>
          </a:xfrm>
          <a:prstGeom prst="line">
            <a:avLst/>
          </a:prstGeom>
          <a:ln w="25400">
            <a:solidFill>
              <a:srgbClr val="007EB5"/>
            </a:solidFill>
            <a:tailEnd type="triangle" w="sm" len="sm"/>
          </a:ln>
        </p:spPr>
      </p:cxnSp>
      <p:sp>
        <p:nvSpPr>
          <p:cNvPr id="36" name="流程3"/>
          <p:cNvSpPr txBox="1"/>
          <p:nvPr/>
        </p:nvSpPr>
        <p:spPr>
          <a:xfrm>
            <a:off x="7277100" y="1765300"/>
            <a:ext cx="1854200" cy="1130300"/>
          </a:xfrm>
          <a:prstGeom prst="rect">
            <a:avLst/>
          </a:prstGeom>
          <a:solidFill>
            <a:srgbClr val="EDF4FA"/>
          </a:solidFill>
          <a:ln w="12700">
            <a:noFill/>
          </a:ln>
        </p:spPr>
        <p:txBody>
          <a:bodyPr wrap="square" lIns="63500" rIns="63500" tIns="63500" bIns="6350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1" dirty="0">
                <a:solidFill>
                  <a:srgbClr val="335693"/>
                </a:solidFill>
                <a:latin typeface="微软雅黑"/>
                <a:ea typeface="微软雅黑"/>
              </a:rPr>
              <a:t>拟合参数</a:t>
            </a:r>
            <a:endParaRPr lang="zh-CN" sz="2300"/>
          </a:p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1" dirty="0">
                <a:solidFill>
                  <a:srgbClr val="335693"/>
                </a:solidFill>
                <a:latin typeface="微软雅黑"/>
                <a:ea typeface="微软雅黑"/>
              </a:rPr>
              <a:t>验证预测</a:t>
            </a:r>
            <a:endParaRPr lang="zh-CN" sz="2300"/>
          </a:p>
        </p:txBody>
      </p:sp>
      <p:cxnSp>
        <p:nvCxnSpPr>
          <p:cNvPr id="37" name="流程箭头3"/>
          <p:cNvCxnSpPr/>
          <p:nvPr/>
        </p:nvCxnSpPr>
        <p:spPr>
          <a:xfrm>
            <a:off x="9194800" y="2324100"/>
            <a:ext cx="177800" cy="0"/>
          </a:xfrm>
          <a:prstGeom prst="line">
            <a:avLst/>
          </a:prstGeom>
          <a:ln w="25400">
            <a:solidFill>
              <a:srgbClr val="007EB5"/>
            </a:solidFill>
            <a:tailEnd type="triangle" w="sm" len="sm"/>
          </a:ln>
        </p:spPr>
      </p:cxnSp>
      <p:sp>
        <p:nvSpPr>
          <p:cNvPr id="38" name="流程4"/>
          <p:cNvSpPr txBox="1"/>
          <p:nvPr/>
        </p:nvSpPr>
        <p:spPr>
          <a:xfrm>
            <a:off x="9448800" y="1765300"/>
            <a:ext cx="1854200" cy="1130300"/>
          </a:xfrm>
          <a:prstGeom prst="rect">
            <a:avLst/>
          </a:prstGeom>
          <a:solidFill>
            <a:srgbClr val="EDF4FA"/>
          </a:solidFill>
          <a:ln w="12700">
            <a:noFill/>
          </a:ln>
        </p:spPr>
        <p:txBody>
          <a:bodyPr wrap="square" lIns="63500" rIns="63500" tIns="63500" bIns="6350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1" dirty="0">
                <a:solidFill>
                  <a:srgbClr val="335693"/>
                </a:solidFill>
                <a:latin typeface="微软雅黑"/>
                <a:ea typeface="微软雅黑"/>
              </a:rPr>
              <a:t>保存候选</a:t>
            </a:r>
            <a:endParaRPr lang="zh-CN" sz="2300"/>
          </a:p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1" dirty="0">
                <a:solidFill>
                  <a:srgbClr val="335693"/>
                </a:solidFill>
                <a:latin typeface="微软雅黑"/>
                <a:ea typeface="微软雅黑"/>
              </a:rPr>
              <a:t>继续改进</a:t>
            </a:r>
            <a:endParaRPr lang="zh-CN" sz="2300"/>
          </a:p>
        </p:txBody>
      </p:sp>
      <p:cxnSp>
        <p:nvCxnSpPr>
          <p:cNvPr id="39" name="迭代返回右"/>
          <p:cNvCxnSpPr/>
          <p:nvPr/>
        </p:nvCxnSpPr>
        <p:spPr>
          <a:xfrm>
            <a:off x="10363200" y="3035300"/>
            <a:ext cx="0" cy="317500"/>
          </a:xfrm>
          <a:prstGeom prst="line">
            <a:avLst/>
          </a:prstGeom>
          <a:ln w="21590">
            <a:solidFill>
              <a:srgbClr val="007EB5"/>
            </a:solidFill>
          </a:ln>
        </p:spPr>
      </p:cxnSp>
      <p:cxnSp>
        <p:nvCxnSpPr>
          <p:cNvPr id="40" name="迭代返回横"/>
          <p:cNvCxnSpPr/>
          <p:nvPr/>
        </p:nvCxnSpPr>
        <p:spPr>
          <a:xfrm flipH="1">
            <a:off x="3873500" y="3352800"/>
            <a:ext cx="6489700" cy="0"/>
          </a:xfrm>
          <a:prstGeom prst="line">
            <a:avLst/>
          </a:prstGeom>
          <a:ln w="21590">
            <a:solidFill>
              <a:srgbClr val="007EB5"/>
            </a:solidFill>
          </a:ln>
        </p:spPr>
      </p:cxnSp>
      <p:cxnSp>
        <p:nvCxnSpPr>
          <p:cNvPr id="41" name="迭代返回左"/>
          <p:cNvCxnSpPr/>
          <p:nvPr/>
        </p:nvCxnSpPr>
        <p:spPr>
          <a:xfrm flipV="1">
            <a:off x="3873500" y="3009900"/>
            <a:ext cx="0" cy="342900"/>
          </a:xfrm>
          <a:prstGeom prst="line">
            <a:avLst/>
          </a:prstGeom>
          <a:ln w="21590">
            <a:solidFill>
              <a:srgbClr val="007EB5"/>
            </a:solidFill>
            <a:tailEnd type="triangle" w="sm" len="sm"/>
          </a:ln>
        </p:spPr>
      </p:cxnSp>
      <p:sp>
        <p:nvSpPr>
          <p:cNvPr id="42" name="第一束光"/>
          <p:cNvSpPr txBox="1"/>
          <p:nvPr/>
        </p:nvSpPr>
        <p:spPr>
          <a:xfrm>
            <a:off x="762000" y="3746500"/>
            <a:ext cx="1066800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400" b="1" dirty="0">
                <a:solidFill>
                  <a:srgbClr val="335693"/>
                </a:solidFill>
                <a:latin typeface="微软雅黑"/>
                <a:ea typeface="微软雅黑"/>
              </a:rPr>
              <a:t>开局免费“第一束光”：2 枚标准探针，各 8 个时刻。</a:t>
            </a:r>
            <a:endParaRPr lang="zh-CN" sz="2400"/>
          </a:p>
        </p:txBody>
      </p:sp>
      <p:sp>
        <p:nvSpPr>
          <p:cNvPr id="43" name="配额左"/>
          <p:cNvSpPr txBox="1"/>
          <p:nvPr/>
        </p:nvSpPr>
        <p:spPr>
          <a:xfrm>
            <a:off x="762000" y="4508500"/>
            <a:ext cx="5257800" cy="165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0" dirty="0">
                <a:solidFill>
                  <a:srgbClr val="243746"/>
                </a:solidFill>
                <a:latin typeface="微软雅黑"/>
                <a:ea typeface="微软雅黑"/>
              </a:rPr>
              <a:t>每局每宇宙 100 点能量</a:t>
            </a:r>
            <a:endParaRPr lang="zh-CN" sz="23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0" dirty="0">
                <a:solidFill>
                  <a:srgbClr val="243746"/>
                </a:solidFill>
                <a:latin typeface="微软雅黑"/>
                <a:ea typeface="微软雅黑"/>
              </a:rPr>
              <a:t>每投放 1 枚探针消耗 1 点</a:t>
            </a:r>
            <a:endParaRPr lang="zh-CN" sz="23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0" dirty="0">
                <a:solidFill>
                  <a:srgbClr val="243746"/>
                </a:solidFill>
                <a:latin typeface="微软雅黑"/>
                <a:ea typeface="微软雅黑"/>
              </a:rPr>
              <a:t>每次至多 8 枚探针</a:t>
            </a:r>
            <a:endParaRPr lang="zh-CN" sz="2300"/>
          </a:p>
        </p:txBody>
      </p:sp>
      <p:sp>
        <p:nvSpPr>
          <p:cNvPr id="44" name="配额右"/>
          <p:cNvSpPr txBox="1"/>
          <p:nvPr/>
        </p:nvSpPr>
        <p:spPr>
          <a:xfrm>
            <a:off x="6248400" y="4508500"/>
            <a:ext cx="5257800" cy="165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200" b="0" dirty="0">
                <a:solidFill>
                  <a:srgbClr val="243746"/>
                </a:solidFill>
                <a:latin typeface="微软雅黑"/>
                <a:ea typeface="微软雅黑"/>
              </a:rPr>
              <a:t>每枚探针至多 50 个读取时刻</a:t>
            </a:r>
            <a:endParaRPr lang="zh-CN" sz="22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200" b="0" dirty="0">
                <a:solidFill>
                  <a:srgbClr val="243746"/>
                </a:solidFill>
                <a:latin typeface="微软雅黑"/>
                <a:ea typeface="微软雅黑"/>
              </a:rPr>
              <a:t>可见背景 observe 免费，至多 20 次</a:t>
            </a:r>
            <a:endParaRPr lang="zh-CN" sz="22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200" b="0" dirty="0">
                <a:solidFill>
                  <a:srgbClr val="243746"/>
                </a:solidFill>
                <a:latin typeface="微软雅黑"/>
                <a:ea typeface="微软雅黑"/>
              </a:rPr>
              <a:t>每宇宙探索上限 60 分钟</a:t>
            </a:r>
            <a:endParaRPr lang="zh-CN" sz="2200"/>
          </a:p>
        </p:txBody>
      </p:sp>
    </p:spTree>
    <p:extLst>
      <p:ext uri="{BB962C8B-B14F-4D97-AF65-F5344CB8AC3E}">
        <p14:creationId xmlns:p14="http://schemas.microsoft.com/office/powerpoint/2010/main" val="1351549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E6D9-E350-9663-1608-54F48B45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>
            <a:extLst>
              <a:ext uri="{FF2B5EF4-FFF2-40B4-BE49-F238E27FC236}">
                <a16:creationId xmlns:a16="http://schemas.microsoft.com/office/drawing/2014/main" id="{E92A4664-38CA-63B0-13A5-688F54A57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277" y="274817"/>
            <a:ext cx="10515600" cy="768624"/>
          </a:xfrm>
        </p:spPr>
        <p:txBody>
          <a:bodyPr/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3600" b="1" dirty="0">
                <a:solidFill>
                  <a:srgbClr val="335693"/>
                </a:solidFill>
                <a:latin typeface="微软雅黑"/>
                <a:ea typeface="微软雅黑"/>
              </a:rPr>
              <a:t>参考技术路线：构建发现智能体</a:t>
            </a:r>
            <a:endParaRPr lang="zh-CN" sz="36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6E058D9-D615-8D29-DD46-760AAC7BC4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27" y="220981"/>
            <a:ext cx="162560" cy="876300"/>
          </a:xfrm>
          <a:prstGeom prst="rect">
            <a:avLst/>
          </a:prstGeom>
        </p:spPr>
      </p:pic>
      <p:sp>
        <p:nvSpPr>
          <p:cNvPr id="30" name="基础框架"/>
          <p:cNvSpPr txBox="1"/>
          <p:nvPr/>
        </p:nvSpPr>
        <p:spPr>
          <a:xfrm>
            <a:off x="762000" y="1562100"/>
            <a:ext cx="10668000" cy="787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500" b="1" dirty="0">
                <a:solidFill>
                  <a:srgbClr val="335693"/>
                </a:solidFill>
                <a:latin typeface="微软雅黑"/>
                <a:ea typeface="微软雅黑"/>
              </a:rPr>
              <a:t>以可修改的基础框架为起点，围绕白名单开源模型构建探索策略。</a:t>
            </a:r>
            <a:endParaRPr lang="zh-CN" sz="2500"/>
          </a:p>
        </p:txBody>
      </p:sp>
      <p:sp>
        <p:nvSpPr>
          <p:cNvPr id="31" name="实验推理标题"/>
          <p:cNvSpPr txBox="1"/>
          <p:nvPr/>
        </p:nvSpPr>
        <p:spPr>
          <a:xfrm>
            <a:off x="762000" y="2768600"/>
            <a:ext cx="4953000" cy="444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600" b="1" dirty="0">
                <a:solidFill>
                  <a:srgbClr val="335693"/>
                </a:solidFill>
                <a:latin typeface="微软雅黑"/>
                <a:ea typeface="微软雅黑"/>
              </a:rPr>
              <a:t>实验与推理</a:t>
            </a:r>
            <a:endParaRPr lang="zh-CN" sz="2600"/>
          </a:p>
        </p:txBody>
      </p:sp>
      <p:sp>
        <p:nvSpPr>
          <p:cNvPr id="32" name="实验推理"/>
          <p:cNvSpPr txBox="1"/>
          <p:nvPr/>
        </p:nvSpPr>
        <p:spPr>
          <a:xfrm>
            <a:off x="762000" y="3454400"/>
            <a:ext cx="4953000" cy="1778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400" b="0" dirty="0">
                <a:solidFill>
                  <a:srgbClr val="243746"/>
                </a:solidFill>
                <a:latin typeface="微软雅黑"/>
                <a:ea typeface="微软雅黑"/>
              </a:rPr>
              <a:t>提示词与上下文管理</a:t>
            </a:r>
            <a:endParaRPr lang="zh-CN" sz="24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400" b="0" dirty="0">
                <a:solidFill>
                  <a:srgbClr val="243746"/>
                </a:solidFill>
                <a:latin typeface="微软雅黑"/>
                <a:ea typeface="微软雅黑"/>
              </a:rPr>
              <a:t>记忆、搜索与多次采样</a:t>
            </a:r>
            <a:endParaRPr lang="zh-CN" sz="24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400" b="0" dirty="0">
                <a:solidFill>
                  <a:srgbClr val="243746"/>
                </a:solidFill>
                <a:latin typeface="微软雅黑"/>
                <a:ea typeface="微软雅黑"/>
              </a:rPr>
              <a:t>实验设计与停止策略</a:t>
            </a:r>
            <a:endParaRPr lang="zh-CN" sz="2400"/>
          </a:p>
        </p:txBody>
      </p:sp>
      <p:sp>
        <p:nvSpPr>
          <p:cNvPr id="33" name="建模训练标题"/>
          <p:cNvSpPr txBox="1"/>
          <p:nvPr/>
        </p:nvSpPr>
        <p:spPr>
          <a:xfrm>
            <a:off x="6477000" y="2768600"/>
            <a:ext cx="4953000" cy="444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600" b="1" dirty="0">
                <a:solidFill>
                  <a:srgbClr val="335693"/>
                </a:solidFill>
                <a:latin typeface="微软雅黑"/>
                <a:ea typeface="微软雅黑"/>
              </a:rPr>
              <a:t>建模与训练</a:t>
            </a:r>
            <a:endParaRPr lang="zh-CN" sz="2600"/>
          </a:p>
        </p:txBody>
      </p:sp>
      <p:sp>
        <p:nvSpPr>
          <p:cNvPr id="34" name="建模训练"/>
          <p:cNvSpPr txBox="1"/>
          <p:nvPr/>
        </p:nvSpPr>
        <p:spPr>
          <a:xfrm>
            <a:off x="6477000" y="3454400"/>
            <a:ext cx="4953000" cy="1778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400" b="0" dirty="0">
                <a:solidFill>
                  <a:srgbClr val="243746"/>
                </a:solidFill>
                <a:latin typeface="微软雅黑"/>
                <a:ea typeface="微软雅黑"/>
              </a:rPr>
              <a:t>代码工具、参数拟合、符号回归</a:t>
            </a:r>
            <a:endParaRPr lang="zh-CN" sz="24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400" b="0" dirty="0">
                <a:solidFill>
                  <a:srgbClr val="243746"/>
                </a:solidFill>
                <a:latin typeface="微软雅黑"/>
                <a:ea typeface="微软雅黑"/>
              </a:rPr>
              <a:t>模型量化、SFT / RL</a:t>
            </a:r>
            <a:endParaRPr lang="zh-CN" sz="24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400" b="0" dirty="0">
                <a:solidFill>
                  <a:srgbClr val="243746"/>
                </a:solidFill>
                <a:latin typeface="微软雅黑"/>
                <a:ea typeface="微软雅黑"/>
              </a:rPr>
              <a:t>训练是可选的改进方法</a:t>
            </a:r>
            <a:endParaRPr lang="zh-CN" sz="2400"/>
          </a:p>
        </p:txBody>
      </p:sp>
      <p:sp>
        <p:nvSpPr>
          <p:cNvPr id="35" name="参考范围"/>
          <p:cNvSpPr txBox="1"/>
          <p:nvPr/>
        </p:nvSpPr>
        <p:spPr>
          <a:xfrm>
            <a:off x="762000" y="5867400"/>
            <a:ext cx="10668000" cy="482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200" b="1" dirty="0">
                <a:solidFill>
                  <a:srgbClr val="C00000"/>
                </a:solidFill>
                <a:latin typeface="微软雅黑"/>
                <a:ea typeface="微软雅黑"/>
              </a:rPr>
              <a:t>以上技术仅作参考，具体方法使用由各攻坚组确定。</a:t>
            </a:r>
            <a:endParaRPr lang="zh-CN" sz="2200"/>
          </a:p>
        </p:txBody>
      </p:sp>
    </p:spTree>
    <p:extLst>
      <p:ext uri="{BB962C8B-B14F-4D97-AF65-F5344CB8AC3E}">
        <p14:creationId xmlns:p14="http://schemas.microsoft.com/office/powerpoint/2010/main" val="1351549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E6D9-E350-9663-1608-54F48B45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>
            <a:extLst>
              <a:ext uri="{FF2B5EF4-FFF2-40B4-BE49-F238E27FC236}">
                <a16:creationId xmlns:a16="http://schemas.microsoft.com/office/drawing/2014/main" id="{E92A4664-38CA-63B0-13A5-688F54A57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277" y="274817"/>
            <a:ext cx="10515600" cy="768624"/>
          </a:xfrm>
        </p:spPr>
        <p:txBody>
          <a:bodyPr/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3600" b="1" dirty="0">
                <a:solidFill>
                  <a:srgbClr val="335693"/>
                </a:solidFill>
                <a:latin typeface="微软雅黑"/>
                <a:ea typeface="微软雅黑"/>
              </a:rPr>
              <a:t>计分规则：准确预言为主</a:t>
            </a:r>
            <a:endParaRPr lang="zh-CN" sz="36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6E058D9-D615-8D29-DD46-760AAC7BC4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27" y="220981"/>
            <a:ext cx="162560" cy="876300"/>
          </a:xfrm>
          <a:prstGeom prst="rect">
            <a:avLst/>
          </a:prstGeom>
        </p:spPr>
      </p:pic>
      <p:sp>
        <p:nvSpPr>
          <p:cNvPr id="30" name="预言标题"/>
          <p:cNvSpPr txBox="1"/>
          <p:nvPr/>
        </p:nvSpPr>
        <p:spPr>
          <a:xfrm>
            <a:off x="762000" y="1574800"/>
            <a:ext cx="5461000" cy="482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800" b="1" dirty="0">
                <a:solidFill>
                  <a:srgbClr val="335693"/>
                </a:solidFill>
                <a:latin typeface="微软雅黑"/>
                <a:ea typeface="微软雅黑"/>
              </a:rPr>
              <a:t>预言 80 分</a:t>
            </a:r>
            <a:endParaRPr lang="zh-CN" sz="2800"/>
          </a:p>
        </p:txBody>
      </p:sp>
      <p:sp>
        <p:nvSpPr>
          <p:cNvPr id="31" name="预言公式"/>
          <p:cNvSpPr txBox="1"/>
          <p:nvPr/>
        </p:nvSpPr>
        <p:spPr>
          <a:xfrm>
            <a:off x="762000" y="2298700"/>
            <a:ext cx="5588000" cy="647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3300" b="1" dirty="0">
                <a:solidFill>
                  <a:srgbClr val="335693"/>
                </a:solidFill>
                <a:latin typeface="微软雅黑"/>
                <a:ea typeface="微软雅黑"/>
              </a:rPr>
              <a:t>P = 80 / (1 + 10e)</a:t>
            </a:r>
            <a:endParaRPr lang="zh-CN" sz="3300"/>
          </a:p>
        </p:txBody>
      </p:sp>
      <p:sp>
        <p:nvSpPr>
          <p:cNvPr id="32" name="误差公式"/>
          <p:cNvSpPr txBox="1"/>
          <p:nvPr/>
        </p:nvSpPr>
        <p:spPr>
          <a:xfrm>
            <a:off x="762000" y="3162300"/>
            <a:ext cx="5588000" cy="508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500" b="0" dirty="0">
                <a:solidFill>
                  <a:srgbClr val="243746"/>
                </a:solidFill>
                <a:latin typeface="微软雅黑"/>
                <a:ea typeface="微软雅黑"/>
              </a:rPr>
              <a:t>e = MSE / max(V, 10⁻¹²)</a:t>
            </a:r>
            <a:endParaRPr lang="zh-CN" sz="2500"/>
          </a:p>
        </p:txBody>
      </p:sp>
      <p:sp>
        <p:nvSpPr>
          <p:cNvPr id="33" name="误差解释"/>
          <p:cNvSpPr txBox="1"/>
          <p:nvPr/>
        </p:nvSpPr>
        <p:spPr>
          <a:xfrm>
            <a:off x="762000" y="3873500"/>
            <a:ext cx="5588000" cy="1714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100" b="0" dirty="0">
                <a:solidFill>
                  <a:srgbClr val="243746"/>
                </a:solidFill>
                <a:latin typeface="微软雅黑"/>
                <a:ea typeface="微软雅黑"/>
              </a:rPr>
              <a:t>MSE：所有验证探针、时刻的</a:t>
            </a:r>
            <a:endParaRPr lang="zh-CN" sz="21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100" b="0" dirty="0">
                <a:solidFill>
                  <a:srgbClr val="243746"/>
                </a:solidFill>
                <a:latin typeface="微软雅黑"/>
                <a:ea typeface="微软雅黑"/>
              </a:rPr>
              <a:t>二维位置平方距离的平均。</a:t>
            </a:r>
            <a:endParaRPr lang="zh-CN" sz="21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100" b="0" dirty="0">
                <a:solidFill>
                  <a:srgbClr val="243746"/>
                </a:solidFill>
                <a:latin typeface="微软雅黑"/>
                <a:ea typeface="微软雅黑"/>
              </a:rPr>
              <a:t>V：真值二维位置总方差</a:t>
            </a:r>
            <a:endParaRPr lang="zh-CN" sz="21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100" b="0" dirty="0">
                <a:solidFill>
                  <a:srgbClr val="243746"/>
                </a:solidFill>
                <a:latin typeface="微软雅黑"/>
                <a:ea typeface="微软雅黑"/>
              </a:rPr>
              <a:t>（x、y 坐标方差之和）。</a:t>
            </a:r>
            <a:endParaRPr lang="zh-CN" sz="2100"/>
          </a:p>
        </p:txBody>
      </p:sp>
      <p:sp>
        <p:nvSpPr>
          <p:cNvPr id="34" name="真值说明"/>
          <p:cNvSpPr txBox="1"/>
          <p:nvPr/>
        </p:nvSpPr>
        <p:spPr>
          <a:xfrm>
            <a:off x="762000" y="5753100"/>
            <a:ext cx="5588000" cy="431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100" b="1" dirty="0">
                <a:solidFill>
                  <a:srgbClr val="335693"/>
                </a:solidFill>
                <a:latin typeface="微软雅黑"/>
                <a:ea typeface="微软雅黑"/>
              </a:rPr>
              <a:t>预测轨迹与无噪声真值比较。</a:t>
            </a:r>
            <a:endParaRPr lang="zh-CN" sz="2100"/>
          </a:p>
        </p:txBody>
      </p:sp>
      <p:sp>
        <p:nvSpPr>
          <p:cNvPr id="35" name="定律标题"/>
          <p:cNvSpPr txBox="1"/>
          <p:nvPr/>
        </p:nvSpPr>
        <p:spPr>
          <a:xfrm>
            <a:off x="6731000" y="1574800"/>
            <a:ext cx="4826000" cy="482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600" b="1" dirty="0">
                <a:solidFill>
                  <a:srgbClr val="335693"/>
                </a:solidFill>
                <a:latin typeface="微软雅黑"/>
                <a:ea typeface="微软雅黑"/>
              </a:rPr>
              <a:t>定律 15 分（每项 5 分）</a:t>
            </a:r>
            <a:endParaRPr lang="zh-CN" sz="2600"/>
          </a:p>
        </p:txBody>
      </p:sp>
      <p:sp>
        <p:nvSpPr>
          <p:cNvPr id="36" name="三声明"/>
          <p:cNvSpPr txBox="1"/>
          <p:nvPr/>
        </p:nvSpPr>
        <p:spPr>
          <a:xfrm>
            <a:off x="6731000" y="2298700"/>
            <a:ext cx="4826000" cy="1917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200" b="0" dirty="0">
                <a:solidFill>
                  <a:srgbClr val="243746"/>
                </a:solidFill>
                <a:latin typeface="微软雅黑"/>
                <a:ea typeface="微软雅黑"/>
              </a:rPr>
              <a:t>作用决定速度，还是加速度？</a:t>
            </a:r>
            <a:endParaRPr lang="zh-CN" sz="22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200" b="0" dirty="0">
                <a:solidFill>
                  <a:srgbClr val="243746"/>
                </a:solidFill>
                <a:latin typeface="微软雅黑"/>
                <a:ea typeface="微软雅黑"/>
              </a:rPr>
              <a:t>是否存在位置不可见的作用源？</a:t>
            </a:r>
            <a:endParaRPr lang="zh-CN" sz="22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200" b="0" dirty="0">
                <a:solidFill>
                  <a:srgbClr val="243746"/>
                </a:solidFill>
                <a:latin typeface="微软雅黑"/>
                <a:ea typeface="微软雅黑"/>
              </a:rPr>
              <a:t>固定几何与属性后，作用是否</a:t>
            </a:r>
            <a:endParaRPr lang="zh-CN" sz="22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200" b="0" dirty="0">
                <a:solidFill>
                  <a:srgbClr val="243746"/>
                </a:solidFill>
                <a:latin typeface="微软雅黑"/>
                <a:ea typeface="微软雅黑"/>
              </a:rPr>
              <a:t>显式随物理时间变化？</a:t>
            </a:r>
            <a:endParaRPr lang="zh-CN" sz="2200"/>
          </a:p>
        </p:txBody>
      </p:sp>
      <p:sp>
        <p:nvSpPr>
          <p:cNvPr id="37" name="节约标题"/>
          <p:cNvSpPr txBox="1"/>
          <p:nvPr/>
        </p:nvSpPr>
        <p:spPr>
          <a:xfrm>
            <a:off x="6731000" y="4495800"/>
            <a:ext cx="4826000" cy="469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600" b="1" dirty="0">
                <a:solidFill>
                  <a:srgbClr val="335693"/>
                </a:solidFill>
                <a:latin typeface="微软雅黑"/>
                <a:ea typeface="微软雅黑"/>
              </a:rPr>
              <a:t>节约 5 分</a:t>
            </a:r>
            <a:endParaRPr lang="zh-CN" sz="2600"/>
          </a:p>
        </p:txBody>
      </p:sp>
      <p:sp>
        <p:nvSpPr>
          <p:cNvPr id="38" name="节约公式"/>
          <p:cNvSpPr txBox="1"/>
          <p:nvPr/>
        </p:nvSpPr>
        <p:spPr>
          <a:xfrm>
            <a:off x="6731000" y="5156200"/>
            <a:ext cx="4826000" cy="1295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200" b="0" dirty="0">
                <a:solidFill>
                  <a:srgbClr val="243746"/>
                </a:solidFill>
                <a:latin typeface="微软雅黑"/>
                <a:ea typeface="微软雅黑"/>
              </a:rPr>
              <a:t>预言分 P ≥ 40 时：</a:t>
            </a:r>
            <a:endParaRPr lang="zh-CN" sz="22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200" b="0" dirty="0">
                <a:solidFill>
                  <a:srgbClr val="243746"/>
                </a:solidFill>
                <a:latin typeface="微软雅黑"/>
                <a:ea typeface="微软雅黑"/>
              </a:rPr>
              <a:t>C = 5 × (1 − E / 100)</a:t>
            </a:r>
            <a:endParaRPr lang="zh-CN" sz="22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200" b="0" dirty="0">
                <a:solidFill>
                  <a:srgbClr val="243746"/>
                </a:solidFill>
                <a:latin typeface="微软雅黑"/>
                <a:ea typeface="微软雅黑"/>
              </a:rPr>
              <a:t>E 为消耗能量；否则 C = 0。</a:t>
            </a:r>
            <a:endParaRPr lang="zh-CN" sz="2200"/>
          </a:p>
        </p:txBody>
      </p:sp>
    </p:spTree>
    <p:extLst>
      <p:ext uri="{BB962C8B-B14F-4D97-AF65-F5344CB8AC3E}">
        <p14:creationId xmlns:p14="http://schemas.microsoft.com/office/powerpoint/2010/main" val="1351549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E6D9-E350-9663-1608-54F48B45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>
            <a:extLst>
              <a:ext uri="{FF2B5EF4-FFF2-40B4-BE49-F238E27FC236}">
                <a16:creationId xmlns:a16="http://schemas.microsoft.com/office/drawing/2014/main" id="{E92A4664-38CA-63B0-13A5-688F54A57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277" y="274817"/>
            <a:ext cx="10515600" cy="768624"/>
          </a:xfrm>
        </p:spPr>
        <p:txBody>
          <a:bodyPr/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3600" b="1" dirty="0">
                <a:solidFill>
                  <a:srgbClr val="335693"/>
                </a:solidFill>
                <a:latin typeface="微软雅黑"/>
                <a:ea typeface="微软雅黑"/>
              </a:rPr>
              <a:t>成果与边界：提交可复现的规律</a:t>
            </a:r>
            <a:endParaRPr lang="zh-CN" sz="36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6E058D9-D615-8D29-DD46-760AAC7BC4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27" y="220981"/>
            <a:ext cx="162560" cy="876300"/>
          </a:xfrm>
          <a:prstGeom prst="rect">
            <a:avLst/>
          </a:prstGeom>
        </p:spPr>
      </p:pic>
      <p:sp>
        <p:nvSpPr>
          <p:cNvPr id="30" name="发现产物标题"/>
          <p:cNvSpPr txBox="1"/>
          <p:nvPr/>
        </p:nvSpPr>
        <p:spPr>
          <a:xfrm>
            <a:off x="762000" y="1600200"/>
            <a:ext cx="10668000" cy="482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600" b="1" dirty="0">
                <a:solidFill>
                  <a:srgbClr val="335693"/>
                </a:solidFill>
                <a:latin typeface="微软雅黑"/>
                <a:ea typeface="微软雅黑"/>
              </a:rPr>
              <a:t>每个宇宙的发现产物</a:t>
            </a:r>
            <a:endParaRPr lang="zh-CN" sz="2600"/>
          </a:p>
        </p:txBody>
      </p:sp>
      <p:sp>
        <p:nvSpPr>
          <p:cNvPr id="31" name="发现产物"/>
          <p:cNvSpPr txBox="1"/>
          <p:nvPr/>
        </p:nvSpPr>
        <p:spPr>
          <a:xfrm>
            <a:off x="762000" y="2324100"/>
            <a:ext cx="10668000" cy="1168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400" b="0" dirty="0">
                <a:solidFill>
                  <a:srgbClr val="243746"/>
                </a:solidFill>
                <a:latin typeface="微软雅黑"/>
                <a:ea typeface="微软雅黑"/>
              </a:rPr>
              <a:t>law.py：候选运动规律，使用固定积分器得到预测轨迹。</a:t>
            </a:r>
            <a:endParaRPr lang="zh-CN" sz="24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400" b="0" dirty="0">
                <a:solidFill>
                  <a:srgbClr val="243746"/>
                </a:solidFill>
                <a:latin typeface="微软雅黑"/>
                <a:ea typeface="微软雅黑"/>
              </a:rPr>
              <a:t>claims.json：填写三项结构化判断，由程序客观判定。</a:t>
            </a:r>
            <a:endParaRPr lang="zh-CN" sz="2400"/>
          </a:p>
        </p:txBody>
      </p:sp>
      <p:sp>
        <p:nvSpPr>
          <p:cNvPr id="32" name="奥卡姆"/>
          <p:cNvSpPr txBox="1"/>
          <p:nvPr/>
        </p:nvSpPr>
        <p:spPr>
          <a:xfrm>
            <a:off x="762000" y="3670300"/>
            <a:ext cx="10668000" cy="469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300" b="1" dirty="0">
                <a:solidFill>
                  <a:srgbClr val="335693"/>
                </a:solidFill>
                <a:latin typeface="微软雅黑"/>
                <a:ea typeface="微软雅黑"/>
              </a:rPr>
              <a:t>奥卡姆约束：全局待拟合标量参数最多 5 个。</a:t>
            </a:r>
            <a:endParaRPr lang="zh-CN" sz="2300"/>
          </a:p>
        </p:txBody>
      </p:sp>
      <p:sp>
        <p:nvSpPr>
          <p:cNvPr id="33" name="参赛边界"/>
          <p:cNvSpPr txBox="1"/>
          <p:nvPr/>
        </p:nvSpPr>
        <p:spPr>
          <a:xfrm>
            <a:off x="762000" y="4533900"/>
            <a:ext cx="10668000" cy="1066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200" b="0" dirty="0">
                <a:solidFill>
                  <a:srgbClr val="243746"/>
                </a:solidFill>
                <a:latin typeface="微软雅黑"/>
                <a:ea typeface="微软雅黑"/>
              </a:rPr>
              <a:t>使用白名单模型，自主设计智能体与工具。</a:t>
            </a:r>
            <a:endParaRPr lang="zh-CN" sz="2200"/>
          </a:p>
          <a:p>
            <a:pPr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200" b="0" dirty="0">
                <a:solidFill>
                  <a:srgbClr val="243746"/>
                </a:solidFill>
                <a:latin typeface="微软雅黑"/>
                <a:ea typeface="微软雅黑"/>
              </a:rPr>
              <a:t>禁止外部 API、非白名单权重及第三方现成智能体框架、编码智能体。</a:t>
            </a:r>
            <a:endParaRPr lang="zh-CN" sz="2200"/>
          </a:p>
        </p:txBody>
      </p:sp>
      <p:sp>
        <p:nvSpPr>
          <p:cNvPr id="34" name="祝语"/>
          <p:cNvSpPr txBox="1"/>
          <p:nvPr/>
        </p:nvSpPr>
        <p:spPr>
          <a:xfrm>
            <a:off x="762000" y="6007100"/>
            <a:ext cx="10668000" cy="546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700"/>
              </a:spcAft>
              <a:buNone/>
            </a:pPr>
            <a:r>
              <a:rPr lang="zh-CN" sz="2900" b="1" dirty="0">
                <a:solidFill>
                  <a:srgbClr val="C00000"/>
                </a:solidFill>
                <a:latin typeface="微软雅黑"/>
                <a:ea typeface="微软雅黑"/>
              </a:rPr>
              <a:t>预祝各攻坚组取得好成绩！</a:t>
            </a:r>
            <a:endParaRPr lang="zh-CN" sz="2900"/>
          </a:p>
        </p:txBody>
      </p:sp>
    </p:spTree>
    <p:extLst>
      <p:ext uri="{BB962C8B-B14F-4D97-AF65-F5344CB8AC3E}">
        <p14:creationId xmlns:p14="http://schemas.microsoft.com/office/powerpoint/2010/main" val="1351549462"/>
      </p:ext>
    </p:extLst>
  </p:cSld>
  <p:clrMapOvr>
    <a:masterClrMapping/>
  </p:clrMapOvr>
</p:sld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1102362204723,&quot;left&quot;:447.9035433070866,&quot;top&quot;:95.96062992125984,&quot;width&quot;:441.096456692913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1315</Words>
  <Application>Microsoft Office PowerPoint</Application>
  <PresentationFormat>宽屏</PresentationFormat>
  <Paragraphs>87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微软雅黑</vt:lpstr>
      <vt:lpstr>Arial</vt:lpstr>
      <vt:lpstr>Calibri</vt:lpstr>
      <vt:lpstr>Cambria Math</vt:lpstr>
      <vt:lpstr>Wingdings</vt:lpstr>
      <vt:lpstr>Office 主题​​</vt:lpstr>
      <vt:lpstr>彼岸物理规律发现挑战赛</vt:lpstr>
      <vt:lpstr>任务背景：裂隙另一侧的宇宙</vt:lpstr>
      <vt:lpstr>目标宇宙：六个公开，九个未知</vt:lpstr>
      <vt:lpstr>实验方式：向彼岸投放探针</vt:lpstr>
      <vt:lpstr>智能体流程：实验、推断与验证</vt:lpstr>
      <vt:lpstr>参考技术路线：构建发现智能体</vt:lpstr>
      <vt:lpstr>计分规则：准确预言为主</vt:lpstr>
      <vt:lpstr>成果与边界：提交可复现的规律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彼岸物理规律发现挑战赛：课题介绍</dc:title>
  <dc:creator/>
  <cp:lastModifiedBy/>
  <cp:revision>13</cp:revision>
  <dcterms:created xsi:type="dcterms:W3CDTF">2025-10-15T14:57:38Z</dcterms:created>
  <dcterms:modified xsi:type="dcterms:W3CDTF">2026-10-27T07:42:01Z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2052-12.9.0.23117</vt:lpwstr>
  </property>
  <property fmtid="{D5CDD505-2E9C-101B-9397-08002B2CF9AE}" pid="3" name="ICV">
    <vt:lpwstr>E2DAB261747F48C59909AEC1001B4EF2_11</vt:lpwstr>
  </property>
</Properties>
</file>